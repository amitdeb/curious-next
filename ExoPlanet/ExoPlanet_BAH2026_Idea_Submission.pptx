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Flux</c:v>
                </c:pt>
              </c:strCache>
            </c:strRef>
          </c:tx>
          <c:spPr>
            <a:solidFill>
              <a:srgbClr val="B8740F"/>
            </a:solidFill>
            <a:ln w="28575" cap="flat">
              <a:solidFill>
                <a:srgbClr val="B8740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8740F"/>
              </a:solidFill>
              <a:ln w="9525" cap="flat">
                <a:solidFill>
                  <a:srgbClr val="B8740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Sheet1!$A$2:$A$61</c:f>
              <c:multiLvlStrCache>
                <c:ptCount val="60"/>
                <c:lvl>
                  <c:pt idx="0">
                    <c:v/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</c:lvl>
              </c:multiLvlStrCache>
            </c:multiLvlStrRef>
          </c:cat>
          <c:val>
            <c:numRef>
              <c:f>Sheet1!$B$2:$B$61</c:f>
              <c:numCache>
                <c:formatCode>General</c:formatCode>
                <c:ptCount val="60"/>
                <c:pt idx="0">
                  <c:v>100</c:v>
                </c:pt>
                <c:pt idx="1">
                  <c:v>100.1</c:v>
                </c:pt>
                <c:pt idx="2">
                  <c:v>100.19</c:v>
                </c:pt>
                <c:pt idx="3">
                  <c:v>100.27</c:v>
                </c:pt>
                <c:pt idx="4">
                  <c:v>100.34</c:v>
                </c:pt>
                <c:pt idx="5">
                  <c:v>100.38</c:v>
                </c:pt>
                <c:pt idx="6">
                  <c:v>100.4</c:v>
                </c:pt>
                <c:pt idx="7">
                  <c:v>100.39</c:v>
                </c:pt>
                <c:pt idx="8">
                  <c:v>100.36</c:v>
                </c:pt>
                <c:pt idx="9">
                  <c:v>100.31</c:v>
                </c:pt>
                <c:pt idx="10">
                  <c:v>100.24</c:v>
                </c:pt>
                <c:pt idx="11">
                  <c:v>100.15</c:v>
                </c:pt>
                <c:pt idx="12">
                  <c:v>100.06</c:v>
                </c:pt>
                <c:pt idx="13">
                  <c:v>99.96</c:v>
                </c:pt>
                <c:pt idx="14">
                  <c:v>99.86</c:v>
                </c:pt>
                <c:pt idx="15">
                  <c:v>99.77</c:v>
                </c:pt>
                <c:pt idx="16">
                  <c:v>99.7</c:v>
                </c:pt>
                <c:pt idx="17">
                  <c:v>99.64</c:v>
                </c:pt>
                <c:pt idx="18">
                  <c:v>99.61</c:v>
                </c:pt>
                <c:pt idx="19">
                  <c:v>99.6</c:v>
                </c:pt>
                <c:pt idx="20">
                  <c:v>99.62</c:v>
                </c:pt>
                <c:pt idx="21">
                  <c:v>99.66</c:v>
                </c:pt>
                <c:pt idx="22">
                  <c:v>99.72</c:v>
                </c:pt>
                <c:pt idx="23">
                  <c:v>99.8</c:v>
                </c:pt>
                <c:pt idx="24">
                  <c:v>99.89</c:v>
                </c:pt>
                <c:pt idx="25">
                  <c:v>99.99</c:v>
                </c:pt>
                <c:pt idx="26">
                  <c:v>98.11</c:v>
                </c:pt>
                <c:pt idx="27">
                  <c:v>97.86</c:v>
                </c:pt>
                <c:pt idx="28">
                  <c:v>97.59</c:v>
                </c:pt>
                <c:pt idx="29">
                  <c:v>97.3</c:v>
                </c:pt>
                <c:pt idx="30">
                  <c:v>97.35</c:v>
                </c:pt>
                <c:pt idx="31">
                  <c:v>97.72</c:v>
                </c:pt>
                <c:pt idx="32">
                  <c:v>98.07</c:v>
                </c:pt>
                <c:pt idx="33">
                  <c:v>98.39</c:v>
                </c:pt>
                <c:pt idx="34">
                  <c:v>100.32</c:v>
                </c:pt>
                <c:pt idx="35">
                  <c:v>100.25</c:v>
                </c:pt>
                <c:pt idx="36">
                  <c:v>100.16</c:v>
                </c:pt>
                <c:pt idx="37">
                  <c:v>100.07</c:v>
                </c:pt>
                <c:pt idx="38">
                  <c:v>99.97</c:v>
                </c:pt>
                <c:pt idx="39">
                  <c:v>99.87</c:v>
                </c:pt>
                <c:pt idx="40">
                  <c:v>99.78</c:v>
                </c:pt>
                <c:pt idx="41">
                  <c:v>99.71</c:v>
                </c:pt>
                <c:pt idx="42">
                  <c:v>99.65</c:v>
                </c:pt>
                <c:pt idx="43">
                  <c:v>99.61</c:v>
                </c:pt>
                <c:pt idx="44">
                  <c:v>99.6</c:v>
                </c:pt>
                <c:pt idx="45">
                  <c:v>99.61</c:v>
                </c:pt>
                <c:pt idx="46">
                  <c:v>99.65</c:v>
                </c:pt>
                <c:pt idx="47">
                  <c:v>99.71</c:v>
                </c:pt>
                <c:pt idx="48">
                  <c:v>99.79</c:v>
                </c:pt>
                <c:pt idx="49">
                  <c:v>99.88</c:v>
                </c:pt>
                <c:pt idx="50">
                  <c:v>99.97</c:v>
                </c:pt>
                <c:pt idx="51">
                  <c:v>100.07</c:v>
                </c:pt>
                <c:pt idx="52">
                  <c:v>100.17</c:v>
                </c:pt>
                <c:pt idx="53">
                  <c:v>100.25</c:v>
                </c:pt>
                <c:pt idx="54">
                  <c:v>100.32</c:v>
                </c:pt>
                <c:pt idx="55">
                  <c:v>100.37</c:v>
                </c:pt>
                <c:pt idx="56">
                  <c:v>100.4</c:v>
                </c:pt>
                <c:pt idx="57">
                  <c:v>100.4</c:v>
                </c:pt>
                <c:pt idx="58">
                  <c:v>100.37</c:v>
                </c:pt>
                <c:pt idx="59">
                  <c:v>100.33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41148" cy="41148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3" name="Shape 1"/>
          <p:cNvSpPr/>
          <p:nvPr/>
        </p:nvSpPr>
        <p:spPr>
          <a:xfrm>
            <a:off x="1920240" y="1005840"/>
            <a:ext cx="25603" cy="2560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291840" y="457200"/>
            <a:ext cx="25603" cy="2560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754880" y="1280160"/>
            <a:ext cx="41148" cy="411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217920" y="365760"/>
            <a:ext cx="25603" cy="25603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7" name="Shape 5"/>
          <p:cNvSpPr/>
          <p:nvPr/>
        </p:nvSpPr>
        <p:spPr>
          <a:xfrm>
            <a:off x="7680960" y="1097280"/>
            <a:ext cx="25603" cy="2560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9052560" y="548640"/>
            <a:ext cx="41148" cy="411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10332720" y="914400"/>
            <a:ext cx="25603" cy="2560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11338560" y="457200"/>
            <a:ext cx="25603" cy="25603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11" name="Shape 9"/>
          <p:cNvSpPr/>
          <p:nvPr/>
        </p:nvSpPr>
        <p:spPr>
          <a:xfrm>
            <a:off x="1280160" y="5303520"/>
            <a:ext cx="41148" cy="411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6035040"/>
            <a:ext cx="25603" cy="2560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2377440" y="6309360"/>
            <a:ext cx="25603" cy="2560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3566160" y="5852160"/>
            <a:ext cx="41148" cy="41148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0" y="6400800"/>
            <a:ext cx="25603" cy="2560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492240" y="6035040"/>
            <a:ext cx="25603" cy="2560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863840" y="6492240"/>
            <a:ext cx="41148" cy="411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9235440" y="5943600"/>
            <a:ext cx="25603" cy="25603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19" name="Shape 17"/>
          <p:cNvSpPr/>
          <p:nvPr/>
        </p:nvSpPr>
        <p:spPr>
          <a:xfrm>
            <a:off x="10607040" y="6309360"/>
            <a:ext cx="25603" cy="2560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11612880" y="5760720"/>
            <a:ext cx="41148" cy="411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017520"/>
            <a:ext cx="25603" cy="2560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11795760" y="3474720"/>
            <a:ext cx="25603" cy="25603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23" name="Shape 21"/>
          <p:cNvSpPr/>
          <p:nvPr/>
        </p:nvSpPr>
        <p:spPr>
          <a:xfrm>
            <a:off x="1005840" y="2103120"/>
            <a:ext cx="41148" cy="411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11155680" y="2377440"/>
            <a:ext cx="25603" cy="2560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0" y="822960"/>
            <a:ext cx="25603" cy="2560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4206240" y="5486400"/>
            <a:ext cx="41148" cy="41148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27" name="Shape 25"/>
          <p:cNvSpPr/>
          <p:nvPr/>
        </p:nvSpPr>
        <p:spPr>
          <a:xfrm>
            <a:off x="8778240" y="1051560"/>
            <a:ext cx="2377440" cy="2377440"/>
          </a:xfrm>
          <a:prstGeom prst="ellipse">
            <a:avLst/>
          </a:prstGeom>
          <a:ln w="15875">
            <a:solidFill>
              <a:srgbClr val="5B6B8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646920" y="1920240"/>
            <a:ext cx="822960" cy="822960"/>
          </a:xfrm>
          <a:prstGeom prst="ellipse">
            <a:avLst/>
          </a:prstGeom>
          <a:solidFill>
            <a:srgbClr val="F2A93C"/>
          </a:solidFill>
          <a:ln/>
          <a:effectLst>
            <a:outerShdw sx="100000" sy="100000" kx="0" ky="0" algn="bl" rotWithShape="0" blurRad="228600" dist="50800" dir="16200000">
              <a:srgbClr val="F2A93C">
                <a:alpha val="5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915400" y="2212848"/>
            <a:ext cx="292608" cy="292608"/>
          </a:xfrm>
          <a:prstGeom prst="ellipse">
            <a:avLst/>
          </a:prstGeom>
          <a:solidFill>
            <a:srgbClr val="152448"/>
          </a:solidFill>
          <a:ln w="12700">
            <a:solidFill>
              <a:srgbClr val="0B13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13716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BHARATIYA ANTARIKSH HACKATHON 2026  ·  PROBLEM STATEMENT 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31520" y="1828800"/>
            <a:ext cx="8595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AI-Enabled Detection of Exoplanets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Noisy Astronomical Light Curves</a:t>
            </a:r>
            <a:endParaRPr lang="en-US" sz="4000" dirty="0"/>
          </a:p>
        </p:txBody>
      </p:sp>
      <p:sp>
        <p:nvSpPr>
          <p:cNvPr id="32" name="Text 30"/>
          <p:cNvSpPr/>
          <p:nvPr/>
        </p:nvSpPr>
        <p:spPr>
          <a:xfrm>
            <a:off x="731520" y="3611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hidden worlds in the noise of TESS starlight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731520" y="5989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/ Concept Submission  ·  Team [Team Name]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[Member Names]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87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UNDERSTANDING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329416" y="384048"/>
            <a:ext cx="475488" cy="475488"/>
          </a:xfrm>
          <a:prstGeom prst="ellipse">
            <a:avLst/>
          </a:prstGeom>
          <a:ln w="12700">
            <a:solidFill>
              <a:srgbClr val="5B6B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9144" y="493776"/>
            <a:ext cx="201168" cy="201168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6" name="Shape 4"/>
          <p:cNvSpPr/>
          <p:nvPr/>
        </p:nvSpPr>
        <p:spPr>
          <a:xfrm>
            <a:off x="11658600" y="658368"/>
            <a:ext cx="118872" cy="118872"/>
          </a:xfrm>
          <a:prstGeom prst="ellipse">
            <a:avLst/>
          </a:prstGeom>
          <a:solidFill>
            <a:srgbClr val="0B1330"/>
          </a:solidFill>
          <a:ln w="12700">
            <a:solidFill>
              <a:srgbClr val="0B13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500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59436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signals are tiny — brightness dips of only 0.01-1%, buried in noise.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Crowded fields cause stellar blending: foreground/background sources contaminate the aperture.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 response adds further intrinsic instrumental noise.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Eclipsing binaries, blends and starspots all produce dips that can mimic a real transit.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Disentangling these phenomena reliably, at scale, across 20-30k light curves per TESS sector, is the core difficulty.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903720" y="1554480"/>
            <a:ext cx="475488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graphicFrame>
        <p:nvGraphicFramePr>
          <p:cNvPr id="10" name="Chart 0" descr=""/>
          <p:cNvGraphicFramePr/>
          <p:nvPr/>
        </p:nvGraphicFramePr>
        <p:xfrm>
          <a:off x="7178040" y="1783080"/>
          <a:ext cx="420624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7178040" y="38862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transit dip — barely 1% deep — hiding inside instrument &amp; blend noise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903720" y="4526280"/>
            <a:ext cx="4754880" cy="1508760"/>
          </a:xfrm>
          <a:prstGeom prst="roundRect">
            <a:avLst>
              <a:gd name="adj" fmla="val 4848"/>
            </a:avLst>
          </a:prstGeom>
          <a:solidFill>
            <a:srgbClr val="152448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178040" y="46634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Same-looking dip, four different causes: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178040" y="49834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Planet transit  ·  Eclipsing binary  ·  Blended source  ·  Starspot variability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87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OBJECTIVE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One Pipeline, Four Outcomes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329416" y="384048"/>
            <a:ext cx="475488" cy="475488"/>
          </a:xfrm>
          <a:prstGeom prst="ellipse">
            <a:avLst/>
          </a:prstGeom>
          <a:ln w="12700">
            <a:solidFill>
              <a:srgbClr val="5B6B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9144" y="493776"/>
            <a:ext cx="201168" cy="201168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6" name="Shape 4"/>
          <p:cNvSpPr/>
          <p:nvPr/>
        </p:nvSpPr>
        <p:spPr>
          <a:xfrm>
            <a:off x="11658600" y="658368"/>
            <a:ext cx="118872" cy="118872"/>
          </a:xfrm>
          <a:prstGeom prst="ellipse">
            <a:avLst/>
          </a:prstGeom>
          <a:solidFill>
            <a:srgbClr val="0B1330"/>
          </a:solidFill>
          <a:ln w="12700">
            <a:solidFill>
              <a:srgbClr val="0B13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500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1920240"/>
            <a:ext cx="658368" cy="658368"/>
          </a:xfrm>
          <a:prstGeom prst="ellipse">
            <a:avLst/>
          </a:prstGeom>
          <a:solidFill>
            <a:srgbClr val="F2A93C"/>
          </a:solidFill>
          <a:ln/>
        </p:spPr>
      </p:sp>
      <p:pic>
        <p:nvPicPr>
          <p:cNvPr id="10" name="Image 0" descr="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439" y="2097999"/>
            <a:ext cx="302849" cy="30284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737360" y="19202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 &amp; Classify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868680" y="265176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Robustly flag periodic dips and sort them into transit / eclipsing binary / blend / other.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309360" y="160020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629400" y="1920240"/>
            <a:ext cx="658368" cy="658368"/>
          </a:xfrm>
          <a:prstGeom prst="ellipse">
            <a:avLst/>
          </a:prstGeom>
          <a:solidFill>
            <a:srgbClr val="F2A93C"/>
          </a:solidFill>
          <a:ln/>
        </p:spPr>
      </p:sp>
      <p:pic>
        <p:nvPicPr>
          <p:cNvPr id="15" name="Image 1" descr="icons/rul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7159" y="2097999"/>
            <a:ext cx="302849" cy="302849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498080" y="19202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 Parameters</a:t>
            </a:r>
            <a:endParaRPr lang="en-US" sz="1650" dirty="0"/>
          </a:p>
        </p:txBody>
      </p:sp>
      <p:sp>
        <p:nvSpPr>
          <p:cNvPr id="17" name="Text 13"/>
          <p:cNvSpPr/>
          <p:nvPr/>
        </p:nvSpPr>
        <p:spPr>
          <a:xfrm>
            <a:off x="6629400" y="265176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light curves to recover orbital period, transit duration &amp; transit depth.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548640" y="397764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68680" y="4297680"/>
            <a:ext cx="658368" cy="658368"/>
          </a:xfrm>
          <a:prstGeom prst="ellipse">
            <a:avLst/>
          </a:prstGeom>
          <a:solidFill>
            <a:srgbClr val="F2A93C"/>
          </a:solidFill>
          <a:ln/>
        </p:spPr>
      </p:sp>
      <p:pic>
        <p:nvPicPr>
          <p:cNvPr id="20" name="Image 2" descr="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439" y="4475439"/>
            <a:ext cx="302849" cy="302849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737360" y="42976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Quantify Confidence</a:t>
            </a:r>
            <a:endParaRPr lang="en-US" sz="1650" dirty="0"/>
          </a:p>
        </p:txBody>
      </p:sp>
      <p:sp>
        <p:nvSpPr>
          <p:cNvPr id="22" name="Text 17"/>
          <p:cNvSpPr/>
          <p:nvPr/>
        </p:nvSpPr>
        <p:spPr>
          <a:xfrm>
            <a:off x="868680" y="502920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SNR / significance for every detection and a class-confidence score.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6309360" y="397764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629400" y="4297680"/>
            <a:ext cx="658368" cy="658368"/>
          </a:xfrm>
          <a:prstGeom prst="ellipse">
            <a:avLst/>
          </a:prstGeom>
          <a:solidFill>
            <a:srgbClr val="F2A93C"/>
          </a:solidFill>
          <a:ln/>
        </p:spPr>
      </p:sp>
      <p:pic>
        <p:nvPicPr>
          <p:cNvPr id="25" name="Image 3" descr="icons/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7159" y="4475439"/>
            <a:ext cx="302849" cy="302849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498080" y="42976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Visualize Results</a:t>
            </a:r>
            <a:endParaRPr lang="en-US" sz="1650" dirty="0"/>
          </a:p>
        </p:txBody>
      </p:sp>
      <p:sp>
        <p:nvSpPr>
          <p:cNvPr id="27" name="Text 21"/>
          <p:cNvSpPr/>
          <p:nvPr/>
        </p:nvSpPr>
        <p:spPr>
          <a:xfrm>
            <a:off x="6629400" y="502920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the raw and phase-folded light curve with the detected signal overlaid.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87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Pipeline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329416" y="384048"/>
            <a:ext cx="475488" cy="475488"/>
          </a:xfrm>
          <a:prstGeom prst="ellipse">
            <a:avLst/>
          </a:prstGeom>
          <a:ln w="12700">
            <a:solidFill>
              <a:srgbClr val="5B6B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9144" y="493776"/>
            <a:ext cx="201168" cy="201168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6" name="Shape 4"/>
          <p:cNvSpPr/>
          <p:nvPr/>
        </p:nvSpPr>
        <p:spPr>
          <a:xfrm>
            <a:off x="11658600" y="658368"/>
            <a:ext cx="118872" cy="118872"/>
          </a:xfrm>
          <a:prstGeom prst="ellipse">
            <a:avLst/>
          </a:prstGeom>
          <a:solidFill>
            <a:srgbClr val="0B1330"/>
          </a:solidFill>
          <a:ln w="12700">
            <a:solidFill>
              <a:srgbClr val="0B13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500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" y="1783080"/>
            <a:ext cx="18745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220724" y="2011680"/>
            <a:ext cx="566928" cy="566928"/>
          </a:xfrm>
          <a:prstGeom prst="ellipse">
            <a:avLst/>
          </a:prstGeom>
          <a:solidFill>
            <a:srgbClr val="F2A93C"/>
          </a:solidFill>
          <a:ln/>
        </p:spPr>
      </p:sp>
      <p:pic>
        <p:nvPicPr>
          <p:cNvPr id="10" name="Image 0" descr="icons/satell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3795" y="2164751"/>
            <a:ext cx="260787" cy="26078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" y="2697480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TESS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 Curves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76656" y="3154680"/>
            <a:ext cx="1655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2-min cadence sector data from the MAST archive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441448" y="24688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740F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2852928" y="1783080"/>
            <a:ext cx="18745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506724" y="2011680"/>
            <a:ext cx="566928" cy="566928"/>
          </a:xfrm>
          <a:prstGeom prst="ellipse">
            <a:avLst/>
          </a:prstGeom>
          <a:solidFill>
            <a:srgbClr val="F2A93C"/>
          </a:solidFill>
          <a:ln/>
        </p:spPr>
      </p:sp>
      <p:pic>
        <p:nvPicPr>
          <p:cNvPr id="16" name="Image 1" descr="icons/co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9795" y="2164751"/>
            <a:ext cx="260787" cy="260787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926080" y="2697480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2962656" y="3154680"/>
            <a:ext cx="1655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Detrend stellar variability; clean outliers &amp; gaps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4727448" y="24688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740F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5138928" y="1783080"/>
            <a:ext cx="18745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792724" y="2011680"/>
            <a:ext cx="566928" cy="566928"/>
          </a:xfrm>
          <a:prstGeom prst="ellipse">
            <a:avLst/>
          </a:prstGeom>
          <a:solidFill>
            <a:srgbClr val="F2A93C"/>
          </a:solidFill>
          <a:ln/>
        </p:spPr>
      </p:sp>
      <p:pic>
        <p:nvPicPr>
          <p:cNvPr id="22" name="Image 2" descr="icons/wa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5795" y="2164751"/>
            <a:ext cx="260787" cy="260787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212080" y="2697480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Periodic Search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5248656" y="3154680"/>
            <a:ext cx="1655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BLS + TLS scan for box-shaped dips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7013448" y="24688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740F"/>
                </a:solidFill>
              </a:rPr>
              <a:t>→</a:t>
            </a:r>
            <a:endParaRPr lang="en-US" sz="2000" dirty="0"/>
          </a:p>
        </p:txBody>
      </p:sp>
      <p:sp>
        <p:nvSpPr>
          <p:cNvPr id="26" name="Shape 21"/>
          <p:cNvSpPr/>
          <p:nvPr/>
        </p:nvSpPr>
        <p:spPr>
          <a:xfrm>
            <a:off x="7424928" y="1783080"/>
            <a:ext cx="18745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8078724" y="2011680"/>
            <a:ext cx="566928" cy="566928"/>
          </a:xfrm>
          <a:prstGeom prst="ellipse">
            <a:avLst/>
          </a:prstGeom>
          <a:solidFill>
            <a:srgbClr val="F2A93C"/>
          </a:solidFill>
          <a:ln/>
        </p:spPr>
      </p:sp>
      <p:pic>
        <p:nvPicPr>
          <p:cNvPr id="28" name="Image 3" descr="icons/flas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1795" y="2164751"/>
            <a:ext cx="260787" cy="260787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498080" y="2697480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Extraction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7534656" y="3154680"/>
            <a:ext cx="1655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Odd-even depth, shape, secondary eclipse, SNR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9299448" y="24688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740F"/>
                </a:solidFill>
              </a:rPr>
              <a:t>→</a:t>
            </a:r>
            <a:endParaRPr lang="en-US" sz="2000" dirty="0"/>
          </a:p>
        </p:txBody>
      </p:sp>
      <p:sp>
        <p:nvSpPr>
          <p:cNvPr id="32" name="Shape 26"/>
          <p:cNvSpPr/>
          <p:nvPr/>
        </p:nvSpPr>
        <p:spPr>
          <a:xfrm>
            <a:off x="9710928" y="1783080"/>
            <a:ext cx="18745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10364724" y="2011680"/>
            <a:ext cx="566928" cy="566928"/>
          </a:xfrm>
          <a:prstGeom prst="ellipse">
            <a:avLst/>
          </a:prstGeom>
          <a:solidFill>
            <a:srgbClr val="F2A93C"/>
          </a:solidFill>
          <a:ln/>
        </p:spPr>
      </p:sp>
      <p:pic>
        <p:nvPicPr>
          <p:cNvPr id="34" name="Image 4" descr="icons/robo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7795" y="2164751"/>
            <a:ext cx="260787" cy="260787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784080" y="2697480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 + Fit</a:t>
            </a:r>
            <a:endParaRPr lang="en-US" sz="1250" dirty="0"/>
          </a:p>
        </p:txBody>
      </p:sp>
      <p:sp>
        <p:nvSpPr>
          <p:cNvPr id="36" name="Text 29"/>
          <p:cNvSpPr/>
          <p:nvPr/>
        </p:nvSpPr>
        <p:spPr>
          <a:xfrm>
            <a:off x="9820656" y="3154680"/>
            <a:ext cx="1655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/ XGBoost classifier and parameter estimation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566928" y="3886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7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OUTPUTS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566928" y="4206240"/>
            <a:ext cx="2606040" cy="566928"/>
          </a:xfrm>
          <a:prstGeom prst="roundRect">
            <a:avLst>
              <a:gd name="adj" fmla="val 16129"/>
            </a:avLst>
          </a:prstGeom>
          <a:solidFill>
            <a:srgbClr val="2C3E66"/>
          </a:solidFill>
          <a:ln/>
        </p:spPr>
      </p:sp>
      <p:sp>
        <p:nvSpPr>
          <p:cNvPr id="39" name="Text 32"/>
          <p:cNvSpPr/>
          <p:nvPr/>
        </p:nvSpPr>
        <p:spPr>
          <a:xfrm>
            <a:off x="658368" y="420624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Class</a:t>
            </a:r>
            <a:endParaRPr lang="en-US" sz="1250" dirty="0"/>
          </a:p>
        </p:txBody>
      </p:sp>
      <p:sp>
        <p:nvSpPr>
          <p:cNvPr id="40" name="Shape 33"/>
          <p:cNvSpPr/>
          <p:nvPr/>
        </p:nvSpPr>
        <p:spPr>
          <a:xfrm>
            <a:off x="3310128" y="4206240"/>
            <a:ext cx="2606040" cy="566928"/>
          </a:xfrm>
          <a:prstGeom prst="roundRect">
            <a:avLst>
              <a:gd name="adj" fmla="val 16129"/>
            </a:avLst>
          </a:prstGeom>
          <a:solidFill>
            <a:srgbClr val="2C3E66"/>
          </a:solidFill>
          <a:ln/>
        </p:spPr>
      </p:sp>
      <p:sp>
        <p:nvSpPr>
          <p:cNvPr id="41" name="Text 34"/>
          <p:cNvSpPr/>
          <p:nvPr/>
        </p:nvSpPr>
        <p:spPr>
          <a:xfrm>
            <a:off x="3401568" y="420624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· Duration · Depth</a:t>
            </a:r>
            <a:endParaRPr lang="en-US" sz="1250" dirty="0"/>
          </a:p>
        </p:txBody>
      </p:sp>
      <p:sp>
        <p:nvSpPr>
          <p:cNvPr id="42" name="Shape 35"/>
          <p:cNvSpPr/>
          <p:nvPr/>
        </p:nvSpPr>
        <p:spPr>
          <a:xfrm>
            <a:off x="6053328" y="4206240"/>
            <a:ext cx="2606040" cy="566928"/>
          </a:xfrm>
          <a:prstGeom prst="roundRect">
            <a:avLst>
              <a:gd name="adj" fmla="val 16129"/>
            </a:avLst>
          </a:prstGeom>
          <a:solidFill>
            <a:srgbClr val="2C3E66"/>
          </a:solidFill>
          <a:ln/>
        </p:spPr>
      </p:sp>
      <p:sp>
        <p:nvSpPr>
          <p:cNvPr id="43" name="Text 36"/>
          <p:cNvSpPr/>
          <p:nvPr/>
        </p:nvSpPr>
        <p:spPr>
          <a:xfrm>
            <a:off x="6144768" y="420624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/ SNR</a:t>
            </a:r>
            <a:endParaRPr lang="en-US" sz="1250" dirty="0"/>
          </a:p>
        </p:txBody>
      </p:sp>
      <p:sp>
        <p:nvSpPr>
          <p:cNvPr id="44" name="Shape 37"/>
          <p:cNvSpPr/>
          <p:nvPr/>
        </p:nvSpPr>
        <p:spPr>
          <a:xfrm>
            <a:off x="8796528" y="4206240"/>
            <a:ext cx="2606040" cy="566928"/>
          </a:xfrm>
          <a:prstGeom prst="roundRect">
            <a:avLst>
              <a:gd name="adj" fmla="val 16129"/>
            </a:avLst>
          </a:prstGeom>
          <a:solidFill>
            <a:srgbClr val="2C3E66"/>
          </a:solidFill>
          <a:ln/>
        </p:spPr>
      </p:sp>
      <p:sp>
        <p:nvSpPr>
          <p:cNvPr id="45" name="Text 38"/>
          <p:cNvSpPr/>
          <p:nvPr/>
        </p:nvSpPr>
        <p:spPr>
          <a:xfrm>
            <a:off x="8887968" y="420624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Light-Curve Visualization</a:t>
            </a:r>
            <a:endParaRPr lang="en-US" sz="1250" dirty="0"/>
          </a:p>
        </p:txBody>
      </p:sp>
      <p:sp>
        <p:nvSpPr>
          <p:cNvPr id="46" name="Shape 39"/>
          <p:cNvSpPr/>
          <p:nvPr/>
        </p:nvSpPr>
        <p:spPr>
          <a:xfrm>
            <a:off x="566928" y="502920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152448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47" name="Text 40"/>
          <p:cNvSpPr/>
          <p:nvPr/>
        </p:nvSpPr>
        <p:spPr>
          <a:xfrm>
            <a:off x="868680" y="50292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design: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uses a well-validated, explainable method (vs. an end-to-end black box) — easier to debug, defend in the report, and extend later.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87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SIGNAL DETECTION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Complementary Search Algorithms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329416" y="384048"/>
            <a:ext cx="475488" cy="475488"/>
          </a:xfrm>
          <a:prstGeom prst="ellipse">
            <a:avLst/>
          </a:prstGeom>
          <a:ln w="12700">
            <a:solidFill>
              <a:srgbClr val="5B6B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9144" y="493776"/>
            <a:ext cx="201168" cy="201168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6" name="Shape 4"/>
          <p:cNvSpPr/>
          <p:nvPr/>
        </p:nvSpPr>
        <p:spPr>
          <a:xfrm>
            <a:off x="11658600" y="658368"/>
            <a:ext cx="118872" cy="118872"/>
          </a:xfrm>
          <a:prstGeom prst="ellipse">
            <a:avLst/>
          </a:prstGeom>
          <a:solidFill>
            <a:srgbClr val="0B1330"/>
          </a:solidFill>
          <a:ln w="12700">
            <a:solidFill>
              <a:srgbClr val="0B13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500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1920240"/>
            <a:ext cx="640080" cy="640080"/>
          </a:xfrm>
          <a:prstGeom prst="ellipse">
            <a:avLst/>
          </a:prstGeom>
          <a:solidFill>
            <a:srgbClr val="F2A93C"/>
          </a:solidFill>
          <a:ln/>
        </p:spPr>
      </p:sp>
      <p:pic>
        <p:nvPicPr>
          <p:cNvPr id="10" name="Image 0" descr="icons/wa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7222" y="2093062"/>
            <a:ext cx="294437" cy="29443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783080" y="192024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Box Least Squares (BLS)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783080" y="23134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C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astropy.timeseries.BoxLeastSquares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914400" y="3154680"/>
            <a:ext cx="4617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a period/duration grid for box-shaped flux drops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— ideal for scanning thousands of light curves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first-pass period, depth, duration &amp; SNR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309360" y="160020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675120" y="1920240"/>
            <a:ext cx="640080" cy="640080"/>
          </a:xfrm>
          <a:prstGeom prst="ellipse">
            <a:avLst/>
          </a:prstGeom>
          <a:solidFill>
            <a:srgbClr val="F2A93C"/>
          </a:solidFill>
          <a:ln/>
        </p:spPr>
      </p:sp>
      <p:pic>
        <p:nvPicPr>
          <p:cNvPr id="16" name="Image 1" descr="icons/bo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7942" y="2093062"/>
            <a:ext cx="294437" cy="294437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543800" y="192024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Transit Least Squares (TLS)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7543800" y="23134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C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Hippke &amp; Heller, 2019 — github.com/hippke/tls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675120" y="3154680"/>
            <a:ext cx="4617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a realistic, limb-darkened transit model (not just a box)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~17% more sensitive to small planets than BLS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Refines parameters &amp; suppresses false positives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548640" y="594360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152448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822960" y="594360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 run BLS first for speed across the full dataset, then refine the top candidates with TLS for higher-fidelity parameters.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87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DISTINGUISHING THE CAUSES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Framework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329416" y="384048"/>
            <a:ext cx="475488" cy="475488"/>
          </a:xfrm>
          <a:prstGeom prst="ellipse">
            <a:avLst/>
          </a:prstGeom>
          <a:ln w="12700">
            <a:solidFill>
              <a:srgbClr val="5B6B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9144" y="493776"/>
            <a:ext cx="201168" cy="201168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6" name="Shape 4"/>
          <p:cNvSpPr/>
          <p:nvPr/>
        </p:nvSpPr>
        <p:spPr>
          <a:xfrm>
            <a:off x="11658600" y="658368"/>
            <a:ext cx="118872" cy="118872"/>
          </a:xfrm>
          <a:prstGeom prst="ellipse">
            <a:avLst/>
          </a:prstGeom>
          <a:solidFill>
            <a:srgbClr val="0B1330"/>
          </a:solidFill>
          <a:ln w="12700">
            <a:solidFill>
              <a:srgbClr val="0B13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500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41248" y="1709928"/>
            <a:ext cx="566928" cy="566928"/>
          </a:xfrm>
          <a:prstGeom prst="ellipse">
            <a:avLst/>
          </a:prstGeom>
          <a:solidFill>
            <a:srgbClr val="F2A93C"/>
          </a:solidFill>
          <a:ln/>
        </p:spPr>
      </p:sp>
      <p:pic>
        <p:nvPicPr>
          <p:cNvPr id="10" name="Image 0" descr="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319" y="1862999"/>
            <a:ext cx="260787" cy="26078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00200" y="169164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Planetary Transit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841248" y="2286000"/>
            <a:ext cx="4764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Flat, U-shaped dip with equal depth at every epoch; no secondary eclipse.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309360" y="141732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601968" y="1709928"/>
            <a:ext cx="566928" cy="566928"/>
          </a:xfrm>
          <a:prstGeom prst="ellipse">
            <a:avLst/>
          </a:prstGeom>
          <a:solidFill>
            <a:srgbClr val="F2A93C"/>
          </a:solidFill>
          <a:ln/>
        </p:spPr>
      </p:sp>
      <p:pic>
        <p:nvPicPr>
          <p:cNvPr id="15" name="Image 1" descr="icons/bulls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5039" y="1862999"/>
            <a:ext cx="260787" cy="26078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360920" y="169164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Eclipsing Binary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6601968" y="2286000"/>
            <a:ext cx="4764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V-shaped dip, odd/even depth difference, often a visible secondary eclipse.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48640" y="324612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41248" y="3538728"/>
            <a:ext cx="566928" cy="566928"/>
          </a:xfrm>
          <a:prstGeom prst="ellipse">
            <a:avLst/>
          </a:prstGeom>
          <a:solidFill>
            <a:srgbClr val="F2A93C"/>
          </a:solidFill>
          <a:ln/>
        </p:spPr>
      </p:sp>
      <p:pic>
        <p:nvPicPr>
          <p:cNvPr id="20" name="Image 2" descr="icons/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319" y="3691799"/>
            <a:ext cx="260787" cy="26078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600200" y="352044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Blend / False Positive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841248" y="4114800"/>
            <a:ext cx="4764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 shifts during the dip; apparent depth changes with aperture size.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309360" y="324612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601968" y="3538728"/>
            <a:ext cx="566928" cy="566928"/>
          </a:xfrm>
          <a:prstGeom prst="ellipse">
            <a:avLst/>
          </a:prstGeom>
          <a:solidFill>
            <a:srgbClr val="F2A93C"/>
          </a:solidFill>
          <a:ln/>
        </p:spPr>
      </p:sp>
      <p:pic>
        <p:nvPicPr>
          <p:cNvPr id="25" name="Image 3" descr="icons/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5039" y="3691799"/>
            <a:ext cx="260787" cy="260787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360920" y="352044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 / Stellar Variability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6601968" y="4114800"/>
            <a:ext cx="4764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Non-periodic, or smoothly sinusoidal rather than box-shaped like a transit.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548640" y="5212080"/>
            <a:ext cx="11091672" cy="1005840"/>
          </a:xfrm>
          <a:prstGeom prst="roundRect">
            <a:avLst>
              <a:gd name="adj" fmla="val 7273"/>
            </a:avLst>
          </a:prstGeom>
          <a:solidFill>
            <a:srgbClr val="152448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822960" y="521208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Classifier: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/ Gradient-Boosted Trees trained on the organizers' curated labeled set (confirmed planets, false positives, eclipsing binaries) — interpretable &amp; label-efficient. Stretch goal: an AstroNet-style CNN (Shallue &amp; Vanderburg, 2018) at the grand finale.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87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VALIDATED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 of Concept on Simulated Data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329416" y="384048"/>
            <a:ext cx="475488" cy="475488"/>
          </a:xfrm>
          <a:prstGeom prst="ellipse">
            <a:avLst/>
          </a:prstGeom>
          <a:ln w="12700">
            <a:solidFill>
              <a:srgbClr val="5B6B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9144" y="493776"/>
            <a:ext cx="201168" cy="201168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6" name="Shape 4"/>
          <p:cNvSpPr/>
          <p:nvPr/>
        </p:nvSpPr>
        <p:spPr>
          <a:xfrm>
            <a:off x="11658600" y="658368"/>
            <a:ext cx="118872" cy="118872"/>
          </a:xfrm>
          <a:prstGeom prst="ellipse">
            <a:avLst/>
          </a:prstGeom>
          <a:solidFill>
            <a:srgbClr val="0B1330"/>
          </a:solidFill>
          <a:ln w="12700">
            <a:solidFill>
              <a:srgbClr val="0B13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500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64922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pic>
        <p:nvPicPr>
          <p:cNvPr id="9" name="Image 0" descr="transit_dem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691640"/>
            <a:ext cx="6035040" cy="42519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269480" y="1508760"/>
            <a:ext cx="4370832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543800" y="1691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Injected vs. Recovered</a:t>
            </a:r>
            <a:endParaRPr lang="en-US" sz="14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43800" y="2148840"/>
          <a:ext cx="3840480" cy="173736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Injected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6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51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51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3.620 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51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3.620 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51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51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51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51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51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2.60 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51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2.52 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51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51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51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~336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7269480" y="4343400"/>
            <a:ext cx="4370832" cy="1828800"/>
          </a:xfrm>
          <a:prstGeom prst="roundRect">
            <a:avLst>
              <a:gd name="adj" fmla="val 4000"/>
            </a:avLst>
          </a:prstGeom>
          <a:solidFill>
            <a:srgbClr val="152448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7543800" y="4526280"/>
            <a:ext cx="3840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synthetic TESS-like light curve with an injected transit, run end-to-end through our detrending + BLS pipeline — confirming the core detection method before we touch real data.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87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TRUSTWORTHY OUTPUTS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 &amp; Uncertainty Handling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329416" y="384048"/>
            <a:ext cx="475488" cy="475488"/>
          </a:xfrm>
          <a:prstGeom prst="ellipse">
            <a:avLst/>
          </a:prstGeom>
          <a:ln w="12700">
            <a:solidFill>
              <a:srgbClr val="5B6B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9144" y="493776"/>
            <a:ext cx="201168" cy="201168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6" name="Shape 4"/>
          <p:cNvSpPr/>
          <p:nvPr/>
        </p:nvSpPr>
        <p:spPr>
          <a:xfrm>
            <a:off x="11658600" y="658368"/>
            <a:ext cx="118872" cy="118872"/>
          </a:xfrm>
          <a:prstGeom prst="ellipse">
            <a:avLst/>
          </a:prstGeom>
          <a:solidFill>
            <a:srgbClr val="0B1330"/>
          </a:solidFill>
          <a:ln w="12700">
            <a:solidFill>
              <a:srgbClr val="0B13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500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41248" y="1792224"/>
            <a:ext cx="566928" cy="566928"/>
          </a:xfrm>
          <a:prstGeom prst="ellipse">
            <a:avLst/>
          </a:prstGeom>
          <a:solidFill>
            <a:srgbClr val="F2A93C"/>
          </a:solidFill>
          <a:ln/>
        </p:spPr>
      </p:sp>
      <p:pic>
        <p:nvPicPr>
          <p:cNvPr id="10" name="Image 0" descr="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319" y="1945295"/>
            <a:ext cx="260787" cy="26078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45920" y="170992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significance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074920" y="1709928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BLS SNR / TLS Signal Detection Efficiency (SDE) reported per candidate.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2715768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41248" y="2907792"/>
            <a:ext cx="566928" cy="566928"/>
          </a:xfrm>
          <a:prstGeom prst="ellipse">
            <a:avLst/>
          </a:prstGeom>
          <a:solidFill>
            <a:srgbClr val="F2A93C"/>
          </a:solidFill>
          <a:ln/>
        </p:spPr>
      </p:sp>
      <p:pic>
        <p:nvPicPr>
          <p:cNvPr id="15" name="Image 1" descr="icons/bulls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319" y="3060863"/>
            <a:ext cx="260787" cy="26078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825496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confidence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074920" y="2825496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class-probability is surfaced as the confidence score for each label.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48640" y="3831336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41248" y="4023360"/>
            <a:ext cx="566928" cy="566928"/>
          </a:xfrm>
          <a:prstGeom prst="ellipse">
            <a:avLst/>
          </a:prstGeom>
          <a:solidFill>
            <a:srgbClr val="F2A93C"/>
          </a:solidFill>
          <a:ln/>
        </p:spPr>
      </p:sp>
      <p:pic>
        <p:nvPicPr>
          <p:cNvPr id="20" name="Image 2" descr="icons/di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319" y="4176431"/>
            <a:ext cx="260787" cy="26078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645920" y="3941064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 uncertainty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5074920" y="3941064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resampling gives error bars on period, depth &amp; duration.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548640" y="4946904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841248" y="5138928"/>
            <a:ext cx="566928" cy="566928"/>
          </a:xfrm>
          <a:prstGeom prst="ellipse">
            <a:avLst/>
          </a:prstGeom>
          <a:solidFill>
            <a:srgbClr val="F2A93C"/>
          </a:solidFill>
          <a:ln/>
        </p:spPr>
      </p:sp>
      <p:pic>
        <p:nvPicPr>
          <p:cNvPr id="25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319" y="5291999"/>
            <a:ext cx="260787" cy="260787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645920" y="505663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reliability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5074920" y="5056632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K-fold cross-validation results are reported honestly in the final report.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87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OPEN &amp; REPRODUCIBLE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 Data Sources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329416" y="384048"/>
            <a:ext cx="475488" cy="475488"/>
          </a:xfrm>
          <a:prstGeom prst="ellipse">
            <a:avLst/>
          </a:prstGeom>
          <a:ln w="12700">
            <a:solidFill>
              <a:srgbClr val="5B6B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9144" y="493776"/>
            <a:ext cx="201168" cy="201168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6" name="Shape 4"/>
          <p:cNvSpPr/>
          <p:nvPr/>
        </p:nvSpPr>
        <p:spPr>
          <a:xfrm>
            <a:off x="11658600" y="658368"/>
            <a:ext cx="118872" cy="118872"/>
          </a:xfrm>
          <a:prstGeom prst="ellipse">
            <a:avLst/>
          </a:prstGeom>
          <a:solidFill>
            <a:srgbClr val="0B1330"/>
          </a:solidFill>
          <a:ln w="12700">
            <a:solidFill>
              <a:srgbClr val="0B13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500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53492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1783080"/>
            <a:ext cx="548640" cy="548640"/>
          </a:xfrm>
          <a:prstGeom prst="ellipse">
            <a:avLst/>
          </a:prstGeom>
          <a:solidFill>
            <a:srgbClr val="2C3E66"/>
          </a:solidFill>
          <a:ln/>
        </p:spPr>
      </p:sp>
      <p:pic>
        <p:nvPicPr>
          <p:cNvPr id="10" name="Image 0" descr="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13" y="1931213"/>
            <a:ext cx="252374" cy="25237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54480" y="180136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Libraries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868680" y="25146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lightkurve — </a:t>
            </a:r>
            <a:pPr indent="0" marL="0">
              <a:buNone/>
            </a:pPr>
            <a:r>
              <a:rPr lang="en-US" sz="12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download &amp; manipulate TESS/Kepler light curves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68680" y="308152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astropy.timeseries — </a:t>
            </a:r>
            <a:pPr indent="0" marL="0">
              <a:buNone/>
            </a:pPr>
            <a:r>
              <a:rPr lang="en-US" sz="12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Least Squares periodogram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68680" y="364845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transitleastsquares — </a:t>
            </a:r>
            <a:pPr indent="0" marL="0">
              <a:buNone/>
            </a:pPr>
            <a:r>
              <a:rPr lang="en-US" sz="12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refinement &amp; model fitting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68680" y="421538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wotan — </a:t>
            </a:r>
            <a:pPr indent="0" marL="0">
              <a:buNone/>
            </a:pPr>
            <a:r>
              <a:rPr lang="en-US" sz="12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Light-curve detrending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68680" y="478231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/ XGBoost — </a:t>
            </a:r>
            <a:pPr indent="0" marL="0">
              <a:buNone/>
            </a:pPr>
            <a:r>
              <a:rPr lang="en-US" sz="12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model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68680" y="53492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numpy, matplotlib — </a:t>
            </a:r>
            <a:pPr indent="0" marL="0">
              <a:buNone/>
            </a:pPr>
            <a:r>
              <a:rPr lang="en-US" sz="12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 &amp; visualization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68680" y="58064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7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publicly available Python — no specialized software required.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309360" y="1554480"/>
            <a:ext cx="5330952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629400" y="1783080"/>
            <a:ext cx="548640" cy="548640"/>
          </a:xfrm>
          <a:prstGeom prst="ellipse">
            <a:avLst/>
          </a:prstGeom>
          <a:solidFill>
            <a:srgbClr val="2C3E66"/>
          </a:solidFill>
          <a:ln/>
        </p:spPr>
      </p:sp>
      <p:pic>
        <p:nvPicPr>
          <p:cNvPr id="21" name="Image 1" descr="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7533" y="1931213"/>
            <a:ext cx="252374" cy="25237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315200" y="180136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</a:t>
            </a:r>
            <a:endParaRPr lang="en-US" sz="1650" dirty="0"/>
          </a:p>
        </p:txBody>
      </p:sp>
      <p:sp>
        <p:nvSpPr>
          <p:cNvPr id="23" name="Text 19"/>
          <p:cNvSpPr/>
          <p:nvPr/>
        </p:nvSpPr>
        <p:spPr>
          <a:xfrm>
            <a:off x="6629400" y="25146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Organizers' curated dataset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6629400" y="283464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confirmed planets, false positives &amp; eclipsing binaries — primary training set.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6629400" y="356616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 / TESS archive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6629400" y="388620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archive.stsci.edu — raw sector light curves (~20-30k stars/sector, high cadence).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6629400" y="46177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Exoplanet Archive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6629400" y="493776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 dispositions used as supplementary labels &amp; sanity checks.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87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&amp; WHEN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&amp; Roadmap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329416" y="384048"/>
            <a:ext cx="475488" cy="475488"/>
          </a:xfrm>
          <a:prstGeom prst="ellipse">
            <a:avLst/>
          </a:prstGeom>
          <a:ln w="12700">
            <a:solidFill>
              <a:srgbClr val="5B6B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9144" y="493776"/>
            <a:ext cx="201168" cy="201168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6" name="Shape 4"/>
          <p:cNvSpPr/>
          <p:nvPr/>
        </p:nvSpPr>
        <p:spPr>
          <a:xfrm>
            <a:off x="11658600" y="658368"/>
            <a:ext cx="118872" cy="118872"/>
          </a:xfrm>
          <a:prstGeom prst="ellipse">
            <a:avLst/>
          </a:prstGeom>
          <a:solidFill>
            <a:srgbClr val="0B1330"/>
          </a:solidFill>
          <a:ln w="12700">
            <a:solidFill>
              <a:srgbClr val="0B13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500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53492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1783080"/>
            <a:ext cx="548640" cy="548640"/>
          </a:xfrm>
          <a:prstGeom prst="ellipse">
            <a:avLst/>
          </a:prstGeom>
          <a:solidFill>
            <a:srgbClr val="2C3E66"/>
          </a:solidFill>
          <a:ln/>
        </p:spPr>
      </p:sp>
      <p:pic>
        <p:nvPicPr>
          <p:cNvPr id="10" name="Image 0" descr="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13" y="1931213"/>
            <a:ext cx="252374" cy="25237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54480" y="180136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[Team Name]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868680" y="2615184"/>
            <a:ext cx="109728" cy="109728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13" name="Text 10"/>
          <p:cNvSpPr/>
          <p:nvPr/>
        </p:nvSpPr>
        <p:spPr>
          <a:xfrm>
            <a:off x="1143000" y="24688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Preprocessing</a:t>
            </a:r>
            <a:pPr indent="0" marL="0">
              <a:buNone/>
            </a:pPr>
            <a:r>
              <a:rPr lang="en-US" sz="1300" dirty="0">
                <a:solidFill>
                  <a:srgbClr val="7C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[Member Name]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68680" y="3182112"/>
            <a:ext cx="109728" cy="109728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15" name="Text 12"/>
          <p:cNvSpPr/>
          <p:nvPr/>
        </p:nvSpPr>
        <p:spPr>
          <a:xfrm>
            <a:off x="1143000" y="30358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Detection (BLS/TLS)</a:t>
            </a:r>
            <a:pPr indent="0" marL="0">
              <a:buNone/>
            </a:pPr>
            <a:r>
              <a:rPr lang="en-US" sz="1300" dirty="0">
                <a:solidFill>
                  <a:srgbClr val="7C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[Member Name]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68680" y="3749040"/>
            <a:ext cx="109728" cy="109728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17" name="Text 14"/>
          <p:cNvSpPr/>
          <p:nvPr/>
        </p:nvSpPr>
        <p:spPr>
          <a:xfrm>
            <a:off x="1143000" y="360273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Classification</a:t>
            </a:r>
            <a:pPr indent="0" marL="0">
              <a:buNone/>
            </a:pPr>
            <a:r>
              <a:rPr lang="en-US" sz="1300" dirty="0">
                <a:solidFill>
                  <a:srgbClr val="7C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[Member Name]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68680" y="4315968"/>
            <a:ext cx="109728" cy="109728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19" name="Text 16"/>
          <p:cNvSpPr/>
          <p:nvPr/>
        </p:nvSpPr>
        <p:spPr>
          <a:xfrm>
            <a:off x="1143000" y="416966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&amp; Reporting</a:t>
            </a:r>
            <a:pPr indent="0" marL="0">
              <a:buNone/>
            </a:pPr>
            <a:r>
              <a:rPr lang="en-US" sz="1300" dirty="0">
                <a:solidFill>
                  <a:srgbClr val="7C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[Member Name]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309360" y="1554480"/>
            <a:ext cx="5330952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629400" y="1783080"/>
            <a:ext cx="548640" cy="548640"/>
          </a:xfrm>
          <a:prstGeom prst="ellipse">
            <a:avLst/>
          </a:prstGeom>
          <a:solidFill>
            <a:srgbClr val="2C3E66"/>
          </a:solidFill>
          <a:ln/>
        </p:spPr>
      </p:sp>
      <p:pic>
        <p:nvPicPr>
          <p:cNvPr id="22" name="Image 1" descr="icons/calend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7533" y="1931213"/>
            <a:ext cx="252374" cy="25237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315200" y="180136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1650" dirty="0"/>
          </a:p>
        </p:txBody>
      </p:sp>
      <p:sp>
        <p:nvSpPr>
          <p:cNvPr id="24" name="Shape 20"/>
          <p:cNvSpPr/>
          <p:nvPr/>
        </p:nvSpPr>
        <p:spPr>
          <a:xfrm>
            <a:off x="6629400" y="2551176"/>
            <a:ext cx="146304" cy="146304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25" name="Text 21"/>
          <p:cNvSpPr/>
          <p:nvPr/>
        </p:nvSpPr>
        <p:spPr>
          <a:xfrm>
            <a:off x="6931152" y="24414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7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Jul 2026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8503920" y="24414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/ concept submission (this deck)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6629400" y="3419856"/>
            <a:ext cx="146304" cy="146304"/>
          </a:xfrm>
          <a:prstGeom prst="ellipse">
            <a:avLst/>
          </a:prstGeom>
          <a:solidFill>
            <a:srgbClr val="5B6B8C"/>
          </a:solidFill>
          <a:ln/>
        </p:spPr>
      </p:sp>
      <p:sp>
        <p:nvSpPr>
          <p:cNvPr id="28" name="Text 24"/>
          <p:cNvSpPr/>
          <p:nvPr/>
        </p:nvSpPr>
        <p:spPr>
          <a:xfrm>
            <a:off x="6931152" y="33101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Jul 2026</a:t>
            </a:r>
            <a:endParaRPr lang="en-US" sz="1250" dirty="0"/>
          </a:p>
        </p:txBody>
      </p:sp>
      <p:sp>
        <p:nvSpPr>
          <p:cNvPr id="29" name="Text 25"/>
          <p:cNvSpPr/>
          <p:nvPr/>
        </p:nvSpPr>
        <p:spPr>
          <a:xfrm>
            <a:off x="8503920" y="33101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shortlist announced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6629400" y="4288536"/>
            <a:ext cx="146304" cy="146304"/>
          </a:xfrm>
          <a:prstGeom prst="ellipse">
            <a:avLst/>
          </a:prstGeom>
          <a:solidFill>
            <a:srgbClr val="5B6B8C"/>
          </a:solidFill>
          <a:ln/>
        </p:spPr>
      </p:sp>
      <p:sp>
        <p:nvSpPr>
          <p:cNvPr id="31" name="Text 27"/>
          <p:cNvSpPr/>
          <p:nvPr/>
        </p:nvSpPr>
        <p:spPr>
          <a:xfrm>
            <a:off x="6931152" y="41788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Jul 2026</a:t>
            </a:r>
            <a:endParaRPr lang="en-US" sz="1250" dirty="0"/>
          </a:p>
        </p:txBody>
      </p:sp>
      <p:sp>
        <p:nvSpPr>
          <p:cNvPr id="32" name="Text 28"/>
          <p:cNvSpPr/>
          <p:nvPr/>
        </p:nvSpPr>
        <p:spPr>
          <a:xfrm>
            <a:off x="8503920" y="417880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Induction &amp; ISRO mentorship begins</a:t>
            </a:r>
            <a:endParaRPr lang="en-US" sz="1150" dirty="0"/>
          </a:p>
        </p:txBody>
      </p:sp>
      <p:sp>
        <p:nvSpPr>
          <p:cNvPr id="33" name="Shape 29"/>
          <p:cNvSpPr/>
          <p:nvPr/>
        </p:nvSpPr>
        <p:spPr>
          <a:xfrm>
            <a:off x="6629400" y="5157216"/>
            <a:ext cx="146304" cy="146304"/>
          </a:xfrm>
          <a:prstGeom prst="ellipse">
            <a:avLst/>
          </a:prstGeom>
          <a:solidFill>
            <a:srgbClr val="5B6B8C"/>
          </a:solidFill>
          <a:ln/>
        </p:spPr>
      </p:sp>
      <p:sp>
        <p:nvSpPr>
          <p:cNvPr id="34" name="Text 30"/>
          <p:cNvSpPr/>
          <p:nvPr/>
        </p:nvSpPr>
        <p:spPr>
          <a:xfrm>
            <a:off x="6931152" y="50474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6-7 Aug 2026</a:t>
            </a:r>
            <a:endParaRPr lang="en-US" sz="1250" dirty="0"/>
          </a:p>
        </p:txBody>
      </p:sp>
      <p:sp>
        <p:nvSpPr>
          <p:cNvPr id="35" name="Text 31"/>
          <p:cNvSpPr/>
          <p:nvPr/>
        </p:nvSpPr>
        <p:spPr>
          <a:xfrm>
            <a:off x="8503920" y="50474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Finale — full pipeline build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41148" cy="41148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548640"/>
            <a:ext cx="25603" cy="2560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840480" y="1188720"/>
            <a:ext cx="25603" cy="2560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0" y="457200"/>
            <a:ext cx="41148" cy="411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955280" y="1005840"/>
            <a:ext cx="25603" cy="25603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0" y="548640"/>
            <a:ext cx="25603" cy="2560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0972800" y="1097280"/>
            <a:ext cx="41148" cy="411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1188720" y="5760720"/>
            <a:ext cx="25603" cy="2560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2834640" y="6217920"/>
            <a:ext cx="25603" cy="25603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11" name="Shape 9"/>
          <p:cNvSpPr/>
          <p:nvPr/>
        </p:nvSpPr>
        <p:spPr>
          <a:xfrm>
            <a:off x="4937760" y="5852160"/>
            <a:ext cx="41148" cy="411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949440" y="6309360"/>
            <a:ext cx="25603" cy="2560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8961120" y="5852160"/>
            <a:ext cx="25603" cy="2560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0" y="6217920"/>
            <a:ext cx="41148" cy="41148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3474720"/>
            <a:ext cx="25603" cy="2560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11612880" y="3200400"/>
            <a:ext cx="25603" cy="2560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5618074" y="1274674"/>
            <a:ext cx="1236269" cy="1236269"/>
          </a:xfrm>
          <a:prstGeom prst="ellipse">
            <a:avLst/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03366" y="1559966"/>
            <a:ext cx="523037" cy="523037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19" name="Shape 17"/>
          <p:cNvSpPr/>
          <p:nvPr/>
        </p:nvSpPr>
        <p:spPr>
          <a:xfrm>
            <a:off x="6473952" y="1987906"/>
            <a:ext cx="309067" cy="30906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13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0" y="324612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0" y="406908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feedback welcome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0" y="61264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[Team Name]  ·  Bharatiya Antariksh Hackathon 2026  ·  Problem Statement 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AI-Enabled Detection of Exoplanets from Noisy Astronomical Light Curves</dc:title>
  <dc:subject>PptxGenJS Presentation</dc:subject>
  <dc:creator>Team</dc:creator>
  <cp:lastModifiedBy>Team</cp:lastModifiedBy>
  <cp:revision>1</cp:revision>
  <dcterms:created xsi:type="dcterms:W3CDTF">2026-06-26T17:56:05Z</dcterms:created>
  <dcterms:modified xsi:type="dcterms:W3CDTF">2026-06-26T17:56:05Z</dcterms:modified>
</cp:coreProperties>
</file>