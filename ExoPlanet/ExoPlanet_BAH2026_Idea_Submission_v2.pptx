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Flux</c:v>
                </c:pt>
              </c:strCache>
            </c:strRef>
          </c:tx>
          <c:spPr>
            <a:solidFill>
              <a:srgbClr val="B8740F"/>
            </a:solidFill>
            <a:ln w="28575" cap="flat">
              <a:solidFill>
                <a:srgbClr val="B8740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8740F"/>
              </a:solidFill>
              <a:ln w="9525" cap="flat">
                <a:solidFill>
                  <a:srgbClr val="B8740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Sheet1!$A$2:$A$61</c:f>
              <c:multiLvlStrCache>
                <c:ptCount val="60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</c:lvl>
              </c:multiLvlStrCache>
            </c:multiLvlStr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100</c:v>
                </c:pt>
                <c:pt idx="1">
                  <c:v>100.1</c:v>
                </c:pt>
                <c:pt idx="2">
                  <c:v>100.19</c:v>
                </c:pt>
                <c:pt idx="3">
                  <c:v>100.27</c:v>
                </c:pt>
                <c:pt idx="4">
                  <c:v>100.34</c:v>
                </c:pt>
                <c:pt idx="5">
                  <c:v>100.38</c:v>
                </c:pt>
                <c:pt idx="6">
                  <c:v>100.4</c:v>
                </c:pt>
                <c:pt idx="7">
                  <c:v>100.39</c:v>
                </c:pt>
                <c:pt idx="8">
                  <c:v>100.36</c:v>
                </c:pt>
                <c:pt idx="9">
                  <c:v>100.31</c:v>
                </c:pt>
                <c:pt idx="10">
                  <c:v>100.24</c:v>
                </c:pt>
                <c:pt idx="11">
                  <c:v>100.15</c:v>
                </c:pt>
                <c:pt idx="12">
                  <c:v>100.06</c:v>
                </c:pt>
                <c:pt idx="13">
                  <c:v>99.96</c:v>
                </c:pt>
                <c:pt idx="14">
                  <c:v>99.86</c:v>
                </c:pt>
                <c:pt idx="15">
                  <c:v>99.77</c:v>
                </c:pt>
                <c:pt idx="16">
                  <c:v>99.7</c:v>
                </c:pt>
                <c:pt idx="17">
                  <c:v>99.64</c:v>
                </c:pt>
                <c:pt idx="18">
                  <c:v>99.61</c:v>
                </c:pt>
                <c:pt idx="19">
                  <c:v>99.6</c:v>
                </c:pt>
                <c:pt idx="20">
                  <c:v>99.62</c:v>
                </c:pt>
                <c:pt idx="21">
                  <c:v>99.66</c:v>
                </c:pt>
                <c:pt idx="22">
                  <c:v>99.72</c:v>
                </c:pt>
                <c:pt idx="23">
                  <c:v>99.8</c:v>
                </c:pt>
                <c:pt idx="24">
                  <c:v>99.89</c:v>
                </c:pt>
                <c:pt idx="25">
                  <c:v>99.99</c:v>
                </c:pt>
                <c:pt idx="26">
                  <c:v>98.11</c:v>
                </c:pt>
                <c:pt idx="27">
                  <c:v>97.86</c:v>
                </c:pt>
                <c:pt idx="28">
                  <c:v>97.59</c:v>
                </c:pt>
                <c:pt idx="29">
                  <c:v>97.3</c:v>
                </c:pt>
                <c:pt idx="30">
                  <c:v>97.35</c:v>
                </c:pt>
                <c:pt idx="31">
                  <c:v>97.72</c:v>
                </c:pt>
                <c:pt idx="32">
                  <c:v>98.07</c:v>
                </c:pt>
                <c:pt idx="33">
                  <c:v>98.39</c:v>
                </c:pt>
                <c:pt idx="34">
                  <c:v>100.32</c:v>
                </c:pt>
                <c:pt idx="35">
                  <c:v>100.25</c:v>
                </c:pt>
                <c:pt idx="36">
                  <c:v>100.16</c:v>
                </c:pt>
                <c:pt idx="37">
                  <c:v>100.07</c:v>
                </c:pt>
                <c:pt idx="38">
                  <c:v>99.97</c:v>
                </c:pt>
                <c:pt idx="39">
                  <c:v>99.87</c:v>
                </c:pt>
                <c:pt idx="40">
                  <c:v>99.78</c:v>
                </c:pt>
                <c:pt idx="41">
                  <c:v>99.71</c:v>
                </c:pt>
                <c:pt idx="42">
                  <c:v>99.65</c:v>
                </c:pt>
                <c:pt idx="43">
                  <c:v>99.61</c:v>
                </c:pt>
                <c:pt idx="44">
                  <c:v>99.6</c:v>
                </c:pt>
                <c:pt idx="45">
                  <c:v>99.61</c:v>
                </c:pt>
                <c:pt idx="46">
                  <c:v>99.65</c:v>
                </c:pt>
                <c:pt idx="47">
                  <c:v>99.71</c:v>
                </c:pt>
                <c:pt idx="48">
                  <c:v>99.79</c:v>
                </c:pt>
                <c:pt idx="49">
                  <c:v>99.88</c:v>
                </c:pt>
                <c:pt idx="50">
                  <c:v>99.97</c:v>
                </c:pt>
                <c:pt idx="51">
                  <c:v>100.07</c:v>
                </c:pt>
                <c:pt idx="52">
                  <c:v>100.17</c:v>
                </c:pt>
                <c:pt idx="53">
                  <c:v>100.25</c:v>
                </c:pt>
                <c:pt idx="54">
                  <c:v>100.32</c:v>
                </c:pt>
                <c:pt idx="55">
                  <c:v>100.37</c:v>
                </c:pt>
                <c:pt idx="56">
                  <c:v>100.4</c:v>
                </c:pt>
                <c:pt idx="57">
                  <c:v>100.4</c:v>
                </c:pt>
                <c:pt idx="58">
                  <c:v>100.37</c:v>
                </c:pt>
                <c:pt idx="59">
                  <c:v>100.33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41148" cy="4114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3" name="Shape 1"/>
          <p:cNvSpPr/>
          <p:nvPr/>
        </p:nvSpPr>
        <p:spPr>
          <a:xfrm>
            <a:off x="1920240" y="100584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291840" y="45720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754880" y="1280160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217920" y="365760"/>
            <a:ext cx="25603" cy="25603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0" y="109728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9052560" y="548640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0332720" y="91440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1338560" y="457200"/>
            <a:ext cx="25603" cy="25603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1" name="Shape 9"/>
          <p:cNvSpPr/>
          <p:nvPr/>
        </p:nvSpPr>
        <p:spPr>
          <a:xfrm>
            <a:off x="1280160" y="5303520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603504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377440" y="630936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566160" y="5852160"/>
            <a:ext cx="41148" cy="4114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0" y="640080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492240" y="603504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863840" y="6492240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9235440" y="5943600"/>
            <a:ext cx="25603" cy="25603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9" name="Shape 17"/>
          <p:cNvSpPr/>
          <p:nvPr/>
        </p:nvSpPr>
        <p:spPr>
          <a:xfrm>
            <a:off x="10607040" y="630936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1612880" y="5760720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01752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11795760" y="3474720"/>
            <a:ext cx="25603" cy="25603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5840" y="2103120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11155680" y="237744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0" y="82296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206240" y="5486400"/>
            <a:ext cx="41148" cy="4114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27" name="Shape 25"/>
          <p:cNvSpPr/>
          <p:nvPr/>
        </p:nvSpPr>
        <p:spPr>
          <a:xfrm>
            <a:off x="8778240" y="1051560"/>
            <a:ext cx="2377440" cy="2377440"/>
          </a:xfrm>
          <a:prstGeom prst="ellipse">
            <a:avLst/>
          </a:prstGeom>
          <a:ln w="15875">
            <a:solidFill>
              <a:srgbClr val="5B6B8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46920" y="1920240"/>
            <a:ext cx="822960" cy="822960"/>
          </a:xfrm>
          <a:prstGeom prst="ellipse">
            <a:avLst/>
          </a:prstGeom>
          <a:solidFill>
            <a:srgbClr val="F2A93C"/>
          </a:solidFill>
          <a:ln/>
          <a:effectLst>
            <a:outerShdw sx="100000" sy="100000" kx="0" ky="0" algn="bl" rotWithShape="0" blurRad="228600" dist="50800" dir="16200000">
              <a:srgbClr val="F2A93C">
                <a:alpha val="5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915400" y="2212848"/>
            <a:ext cx="292608" cy="292608"/>
          </a:xfrm>
          <a:prstGeom prst="ellipse">
            <a:avLst/>
          </a:prstGeom>
          <a:solidFill>
            <a:srgbClr val="152448"/>
          </a:solidFill>
          <a:ln w="12700">
            <a:solidFill>
              <a:srgbClr val="0B13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13716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BHARATIYA ANTARIKSH HACKATHON 2026  ·  PROBLEM STATEMENT 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" y="1828800"/>
            <a:ext cx="8595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AI-Enabled Detection of Exoplanets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Noisy Astronomical Light Curves</a:t>
            </a:r>
            <a:endParaRPr lang="en-US" sz="4000" dirty="0"/>
          </a:p>
        </p:txBody>
      </p:sp>
      <p:sp>
        <p:nvSpPr>
          <p:cNvPr id="32" name="Text 30"/>
          <p:cNvSpPr/>
          <p:nvPr/>
        </p:nvSpPr>
        <p:spPr>
          <a:xfrm>
            <a:off x="731520" y="3611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hidden worlds in the noise of TESS starlight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31520" y="5989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/ Concept Submission  ·  Team [Team Name]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[Member Names]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87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UNDERSTANDING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329416" y="384048"/>
            <a:ext cx="475488" cy="475488"/>
          </a:xfrm>
          <a:prstGeom prst="ellipse">
            <a:avLst/>
          </a:prstGeom>
          <a:ln w="12700">
            <a:solidFill>
              <a:srgbClr val="5B6B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9144" y="493776"/>
            <a:ext cx="201168" cy="20116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6" name="Shape 4"/>
          <p:cNvSpPr/>
          <p:nvPr/>
        </p:nvSpPr>
        <p:spPr>
          <a:xfrm>
            <a:off x="11658600" y="658368"/>
            <a:ext cx="118872" cy="118872"/>
          </a:xfrm>
          <a:prstGeom prst="ellipse">
            <a:avLst/>
          </a:prstGeom>
          <a:solidFill>
            <a:srgbClr val="0B1330"/>
          </a:solidFill>
          <a:ln w="12700">
            <a:solidFill>
              <a:srgbClr val="0B13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500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59436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signals are tiny — brightness dips of only 0.01-1%, buried in noise.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Crowded fields cause stellar blending: foreground/background sources contaminate the aperture.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response adds further intrinsic instrumental noise.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Eclipsing binaries, blends and starspots all produce dips that can mimic a real transit.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Disentangling these phenomena reliably, at scale, across 20-30k light curves per TESS sector, is the core difficulty.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903720" y="1554480"/>
            <a:ext cx="47548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graphicFrame>
        <p:nvGraphicFramePr>
          <p:cNvPr id="10" name="Chart 0" descr=""/>
          <p:cNvGraphicFramePr/>
          <p:nvPr/>
        </p:nvGraphicFramePr>
        <p:xfrm>
          <a:off x="7178040" y="1783080"/>
          <a:ext cx="420624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7178040" y="3886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transit dip — barely 1% deep — hiding inside instrument &amp; blend noise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903720" y="4526280"/>
            <a:ext cx="4754880" cy="1508760"/>
          </a:xfrm>
          <a:prstGeom prst="roundRect">
            <a:avLst>
              <a:gd name="adj" fmla="val 4848"/>
            </a:avLst>
          </a:prstGeom>
          <a:solidFill>
            <a:srgbClr val="152448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178040" y="4663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Same-looking dip, four different causes: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178040" y="49834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 transit  ·  Eclipsing binary  ·  Blended source  ·  Starspot variability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87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One Pipeline, Four Outcomes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329416" y="384048"/>
            <a:ext cx="475488" cy="475488"/>
          </a:xfrm>
          <a:prstGeom prst="ellipse">
            <a:avLst/>
          </a:prstGeom>
          <a:ln w="12700">
            <a:solidFill>
              <a:srgbClr val="5B6B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9144" y="493776"/>
            <a:ext cx="201168" cy="20116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6" name="Shape 4"/>
          <p:cNvSpPr/>
          <p:nvPr/>
        </p:nvSpPr>
        <p:spPr>
          <a:xfrm>
            <a:off x="11658600" y="658368"/>
            <a:ext cx="118872" cy="118872"/>
          </a:xfrm>
          <a:prstGeom prst="ellipse">
            <a:avLst/>
          </a:prstGeom>
          <a:solidFill>
            <a:srgbClr val="0B1330"/>
          </a:solidFill>
          <a:ln w="12700">
            <a:solidFill>
              <a:srgbClr val="0B13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500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1920240"/>
            <a:ext cx="658368" cy="658368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10" name="Image 0" descr="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439" y="2097999"/>
            <a:ext cx="302849" cy="30284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37360" y="1920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&amp; Classify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868680" y="265176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Robustly flag periodic dips and sort them into transit / eclipsing binary / blend / other.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309360" y="160020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629400" y="1920240"/>
            <a:ext cx="658368" cy="658368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15" name="Image 1" descr="icons/rul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159" y="2097999"/>
            <a:ext cx="302849" cy="30284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498080" y="1920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 Parameters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6629400" y="265176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light curves to recover orbital period, transit duration &amp; transit depth.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48640" y="397764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68680" y="4297680"/>
            <a:ext cx="658368" cy="658368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20" name="Image 2" descr="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439" y="4475439"/>
            <a:ext cx="302849" cy="30284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737360" y="4297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Quantify Confidence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868680" y="502920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SNR / significance for every detection and a class-confidence score.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309360" y="397764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629400" y="4297680"/>
            <a:ext cx="658368" cy="658368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25" name="Image 3" descr="icons/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7159" y="4475439"/>
            <a:ext cx="302849" cy="302849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498080" y="4297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 Results</a:t>
            </a:r>
            <a:endParaRPr lang="en-US" sz="1650" dirty="0"/>
          </a:p>
        </p:txBody>
      </p:sp>
      <p:sp>
        <p:nvSpPr>
          <p:cNvPr id="27" name="Text 21"/>
          <p:cNvSpPr/>
          <p:nvPr/>
        </p:nvSpPr>
        <p:spPr>
          <a:xfrm>
            <a:off x="6629400" y="502920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the raw and phase-folded light curve with the detected signal overlaid.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548640" y="6053328"/>
            <a:ext cx="11091672" cy="621792"/>
          </a:xfrm>
          <a:prstGeom prst="roundRect">
            <a:avLst>
              <a:gd name="adj" fmla="val 11765"/>
            </a:avLst>
          </a:prstGeom>
          <a:solidFill>
            <a:srgbClr val="152448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822960" y="6053328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India: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ISRO/IIST/Cambridge's proposed ExoWorlds mission — a JWST-class telescope for exoplanet atmosphere spectroscopy — needs exactly this kind of automated candidate vetting at scale; this pipeline is a direct prototype step toward it.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87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Pipeline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329416" y="384048"/>
            <a:ext cx="475488" cy="475488"/>
          </a:xfrm>
          <a:prstGeom prst="ellipse">
            <a:avLst/>
          </a:prstGeom>
          <a:ln w="12700">
            <a:solidFill>
              <a:srgbClr val="5B6B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9144" y="493776"/>
            <a:ext cx="201168" cy="20116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6" name="Shape 4"/>
          <p:cNvSpPr/>
          <p:nvPr/>
        </p:nvSpPr>
        <p:spPr>
          <a:xfrm>
            <a:off x="11658600" y="658368"/>
            <a:ext cx="118872" cy="118872"/>
          </a:xfrm>
          <a:prstGeom prst="ellipse">
            <a:avLst/>
          </a:prstGeom>
          <a:solidFill>
            <a:srgbClr val="0B1330"/>
          </a:solidFill>
          <a:ln w="12700">
            <a:solidFill>
              <a:srgbClr val="0B13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500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783080"/>
            <a:ext cx="1874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220724" y="2011680"/>
            <a:ext cx="566928" cy="566928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10" name="Image 0" descr="icons/satell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3795" y="2164751"/>
            <a:ext cx="260787" cy="26078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269748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TESS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 Curves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76656" y="3154680"/>
            <a:ext cx="1655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2-min cadence sector data from the MAST archive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441448" y="24688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740F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2852928" y="1783080"/>
            <a:ext cx="1874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506724" y="2011680"/>
            <a:ext cx="566928" cy="566928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16" name="Image 1" descr="icons/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795" y="2164751"/>
            <a:ext cx="260787" cy="26078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926080" y="269748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2962656" y="3154680"/>
            <a:ext cx="1655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Detrend stellar variability; clean outliers &amp; gaps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727448" y="24688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740F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5138928" y="1783080"/>
            <a:ext cx="1874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792724" y="2011680"/>
            <a:ext cx="566928" cy="566928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22" name="Image 2" descr="icons/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795" y="2164751"/>
            <a:ext cx="260787" cy="26078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212080" y="269748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Periodic Search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5248656" y="3154680"/>
            <a:ext cx="1655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BLS + TLS scan for box-shaped dips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7013448" y="24688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740F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7424928" y="1783080"/>
            <a:ext cx="1874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8078724" y="2011680"/>
            <a:ext cx="566928" cy="566928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28" name="Image 3" descr="icons/flas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1795" y="2164751"/>
            <a:ext cx="260787" cy="260787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498080" y="269748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7534656" y="3154680"/>
            <a:ext cx="1655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Odd-even depth, shape, secondary eclipse, SNR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9299448" y="24688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740F"/>
                </a:solidFill>
              </a:rPr>
              <a:t>→</a:t>
            </a:r>
            <a:endParaRPr lang="en-US" sz="2000" dirty="0"/>
          </a:p>
        </p:txBody>
      </p:sp>
      <p:sp>
        <p:nvSpPr>
          <p:cNvPr id="32" name="Shape 26"/>
          <p:cNvSpPr/>
          <p:nvPr/>
        </p:nvSpPr>
        <p:spPr>
          <a:xfrm>
            <a:off x="9710928" y="1783080"/>
            <a:ext cx="1874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10364724" y="2011680"/>
            <a:ext cx="566928" cy="566928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34" name="Image 4" descr="icons/robo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7795" y="2164751"/>
            <a:ext cx="260787" cy="260787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784080" y="269748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 + Fit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9820656" y="3154680"/>
            <a:ext cx="1655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/ XGBoost classifier and parameter estimation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566928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7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OUTPUTS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566928" y="4206240"/>
            <a:ext cx="2606040" cy="566928"/>
          </a:xfrm>
          <a:prstGeom prst="roundRect">
            <a:avLst>
              <a:gd name="adj" fmla="val 16129"/>
            </a:avLst>
          </a:prstGeom>
          <a:solidFill>
            <a:srgbClr val="2C3E66"/>
          </a:solidFill>
          <a:ln/>
        </p:spPr>
      </p:sp>
      <p:sp>
        <p:nvSpPr>
          <p:cNvPr id="39" name="Text 32"/>
          <p:cNvSpPr/>
          <p:nvPr/>
        </p:nvSpPr>
        <p:spPr>
          <a:xfrm>
            <a:off x="658368" y="420624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Class</a:t>
            </a:r>
            <a:endParaRPr lang="en-US" sz="1250" dirty="0"/>
          </a:p>
        </p:txBody>
      </p:sp>
      <p:sp>
        <p:nvSpPr>
          <p:cNvPr id="40" name="Shape 33"/>
          <p:cNvSpPr/>
          <p:nvPr/>
        </p:nvSpPr>
        <p:spPr>
          <a:xfrm>
            <a:off x="3310128" y="4206240"/>
            <a:ext cx="2606040" cy="566928"/>
          </a:xfrm>
          <a:prstGeom prst="roundRect">
            <a:avLst>
              <a:gd name="adj" fmla="val 16129"/>
            </a:avLst>
          </a:prstGeom>
          <a:solidFill>
            <a:srgbClr val="2C3E66"/>
          </a:solidFill>
          <a:ln/>
        </p:spPr>
      </p:sp>
      <p:sp>
        <p:nvSpPr>
          <p:cNvPr id="41" name="Text 34"/>
          <p:cNvSpPr/>
          <p:nvPr/>
        </p:nvSpPr>
        <p:spPr>
          <a:xfrm>
            <a:off x="3401568" y="420624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· Duration · Depth</a:t>
            </a:r>
            <a:endParaRPr lang="en-US" sz="1250" dirty="0"/>
          </a:p>
        </p:txBody>
      </p:sp>
      <p:sp>
        <p:nvSpPr>
          <p:cNvPr id="42" name="Shape 35"/>
          <p:cNvSpPr/>
          <p:nvPr/>
        </p:nvSpPr>
        <p:spPr>
          <a:xfrm>
            <a:off x="6053328" y="4206240"/>
            <a:ext cx="2606040" cy="566928"/>
          </a:xfrm>
          <a:prstGeom prst="roundRect">
            <a:avLst>
              <a:gd name="adj" fmla="val 16129"/>
            </a:avLst>
          </a:prstGeom>
          <a:solidFill>
            <a:srgbClr val="2C3E66"/>
          </a:solidFill>
          <a:ln/>
        </p:spPr>
      </p:sp>
      <p:sp>
        <p:nvSpPr>
          <p:cNvPr id="43" name="Text 36"/>
          <p:cNvSpPr/>
          <p:nvPr/>
        </p:nvSpPr>
        <p:spPr>
          <a:xfrm>
            <a:off x="6144768" y="420624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/ SNR</a:t>
            </a:r>
            <a:endParaRPr lang="en-US" sz="1250" dirty="0"/>
          </a:p>
        </p:txBody>
      </p:sp>
      <p:sp>
        <p:nvSpPr>
          <p:cNvPr id="44" name="Shape 37"/>
          <p:cNvSpPr/>
          <p:nvPr/>
        </p:nvSpPr>
        <p:spPr>
          <a:xfrm>
            <a:off x="8796528" y="4206240"/>
            <a:ext cx="2606040" cy="566928"/>
          </a:xfrm>
          <a:prstGeom prst="roundRect">
            <a:avLst>
              <a:gd name="adj" fmla="val 16129"/>
            </a:avLst>
          </a:prstGeom>
          <a:solidFill>
            <a:srgbClr val="2C3E66"/>
          </a:solidFill>
          <a:ln/>
        </p:spPr>
      </p:sp>
      <p:sp>
        <p:nvSpPr>
          <p:cNvPr id="45" name="Text 38"/>
          <p:cNvSpPr/>
          <p:nvPr/>
        </p:nvSpPr>
        <p:spPr>
          <a:xfrm>
            <a:off x="8887968" y="420624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Light-Curve Visualization</a:t>
            </a:r>
            <a:endParaRPr lang="en-US" sz="1250" dirty="0"/>
          </a:p>
        </p:txBody>
      </p:sp>
      <p:sp>
        <p:nvSpPr>
          <p:cNvPr id="46" name="Shape 39"/>
          <p:cNvSpPr/>
          <p:nvPr/>
        </p:nvSpPr>
        <p:spPr>
          <a:xfrm>
            <a:off x="566928" y="502920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152448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47" name="Text 40"/>
          <p:cNvSpPr/>
          <p:nvPr/>
        </p:nvSpPr>
        <p:spPr>
          <a:xfrm>
            <a:off x="868680" y="5029200"/>
            <a:ext cx="10515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design: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explainable, not a black box — easier to debug, defend in the report, and extend later. Stage 4 also fuses TIC stellar parameters (radius, Teff) with light-curve features — the same idea behind NASA's newest vetters (ExoMiner++, 2025; ExoNet, 2026) — turning a periodic dip into a physically checkable planet radius and equilibrium temperature.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87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SIGNAL DETECTION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Complementary Search Algorithms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329416" y="384048"/>
            <a:ext cx="475488" cy="475488"/>
          </a:xfrm>
          <a:prstGeom prst="ellipse">
            <a:avLst/>
          </a:prstGeom>
          <a:ln w="12700">
            <a:solidFill>
              <a:srgbClr val="5B6B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9144" y="493776"/>
            <a:ext cx="201168" cy="20116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6" name="Shape 4"/>
          <p:cNvSpPr/>
          <p:nvPr/>
        </p:nvSpPr>
        <p:spPr>
          <a:xfrm>
            <a:off x="11658600" y="658368"/>
            <a:ext cx="118872" cy="118872"/>
          </a:xfrm>
          <a:prstGeom prst="ellipse">
            <a:avLst/>
          </a:prstGeom>
          <a:solidFill>
            <a:srgbClr val="0B1330"/>
          </a:solidFill>
          <a:ln w="12700">
            <a:solidFill>
              <a:srgbClr val="0B13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500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920240"/>
            <a:ext cx="640080" cy="640080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10" name="Image 0" descr="icons/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222" y="2093062"/>
            <a:ext cx="294437" cy="29443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83080" y="192024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 Least Squares (BLS)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78308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astropy.timeseries.BoxLeastSquares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14400" y="3154680"/>
            <a:ext cx="4617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a period/duration grid for box-shaped flux drops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— ideal for scanning thousands of light curves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first-pass period, depth, duration &amp; SNR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309360" y="160020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675120" y="1920240"/>
            <a:ext cx="640080" cy="640080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16" name="Image 1" descr="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942" y="2093062"/>
            <a:ext cx="294437" cy="29443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543800" y="192024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Transit Least Squares (TLS)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7543800" y="23134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Hippke &amp; Heller, 2019 — github.com/hippke/tls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675120" y="3154680"/>
            <a:ext cx="4617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a realistic, limb-darkened transit model (not just a box)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~17% more sensitive to small planets than BLS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Refines parameters &amp; suppresses false positives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548640" y="594360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152448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822960" y="59436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BLS runs first for speed across the full dataset, then TLS refines the top candidates for higher-fidelity parameters — the same search-then-vet strategy behind NASA's current SOTA pipeline, ExoMiner++ (2025).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87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DISTINGUISHING THE CAUSES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Framework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329416" y="384048"/>
            <a:ext cx="475488" cy="475488"/>
          </a:xfrm>
          <a:prstGeom prst="ellipse">
            <a:avLst/>
          </a:prstGeom>
          <a:ln w="12700">
            <a:solidFill>
              <a:srgbClr val="5B6B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9144" y="493776"/>
            <a:ext cx="201168" cy="20116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6" name="Shape 4"/>
          <p:cNvSpPr/>
          <p:nvPr/>
        </p:nvSpPr>
        <p:spPr>
          <a:xfrm>
            <a:off x="11658600" y="658368"/>
            <a:ext cx="118872" cy="118872"/>
          </a:xfrm>
          <a:prstGeom prst="ellipse">
            <a:avLst/>
          </a:prstGeom>
          <a:solidFill>
            <a:srgbClr val="0B1330"/>
          </a:solidFill>
          <a:ln w="12700">
            <a:solidFill>
              <a:srgbClr val="0B13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500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1709928"/>
            <a:ext cx="566928" cy="566928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10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319" y="1862999"/>
            <a:ext cx="260787" cy="26078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00200" y="16916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Planetary Transit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41248" y="2286000"/>
            <a:ext cx="4764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Flat, U-shaped dip with equal depth at every epoch; no secondary eclipse.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309360" y="141732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601968" y="1709928"/>
            <a:ext cx="566928" cy="566928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15" name="Image 1" descr="icons/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039" y="1862999"/>
            <a:ext cx="260787" cy="26078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60920" y="16916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Eclipsing Binary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6601968" y="2286000"/>
            <a:ext cx="4764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V-shaped dip, odd/even depth difference, often a visible secondary eclipse.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324612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1248" y="3538728"/>
            <a:ext cx="566928" cy="566928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20" name="Image 2" descr="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19" y="3691799"/>
            <a:ext cx="260787" cy="26078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00200" y="35204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Blend / False Positive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841248" y="4114800"/>
            <a:ext cx="4764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 shifts during the dip; apparent depth changes with aperture size.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309360" y="324612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601968" y="3538728"/>
            <a:ext cx="566928" cy="566928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25" name="Image 3" descr="icons/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5039" y="3691799"/>
            <a:ext cx="260787" cy="260787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60920" y="35204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/ Stellar Variability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6601968" y="4114800"/>
            <a:ext cx="4764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Non-periodic, or smoothly sinusoidal rather than box-shaped like a transit.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48640" y="5029200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152448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822960" y="502920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Classifier: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/ Gradient-Boosted Trees on the organizers' curated labeled set — interpretable, label-efficient, with calibrated confidence scores. Stretch goal: a multimodal vetter in the spirit of NASA's current SOTA (ExoMiner++, 2025; ExoNet, 2026), fusing light-curve shape with TIC stellar parameters (radius, Teff) for a physical planet radius &amp; equilibrium temperature.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87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VALIDATED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of Concept on Simulated Data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329416" y="384048"/>
            <a:ext cx="475488" cy="475488"/>
          </a:xfrm>
          <a:prstGeom prst="ellipse">
            <a:avLst/>
          </a:prstGeom>
          <a:ln w="12700">
            <a:solidFill>
              <a:srgbClr val="5B6B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9144" y="493776"/>
            <a:ext cx="201168" cy="20116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6" name="Shape 4"/>
          <p:cNvSpPr/>
          <p:nvPr/>
        </p:nvSpPr>
        <p:spPr>
          <a:xfrm>
            <a:off x="11658600" y="658368"/>
            <a:ext cx="118872" cy="118872"/>
          </a:xfrm>
          <a:prstGeom prst="ellipse">
            <a:avLst/>
          </a:prstGeom>
          <a:solidFill>
            <a:srgbClr val="0B1330"/>
          </a:solidFill>
          <a:ln w="12700">
            <a:solidFill>
              <a:srgbClr val="0B13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500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64922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pic>
        <p:nvPicPr>
          <p:cNvPr id="9" name="Image 0" descr="transit_dem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691640"/>
            <a:ext cx="6035040" cy="42519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269480" y="1508760"/>
            <a:ext cx="4370832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543800" y="1691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Injected vs. Recovered</a:t>
            </a:r>
            <a:endParaRPr lang="en-US" sz="14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43800" y="2148840"/>
          <a:ext cx="3840480" cy="173736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3.620 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3.620 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2.60 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2.52 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~336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7269480" y="4343400"/>
            <a:ext cx="4370832" cy="1828800"/>
          </a:xfrm>
          <a:prstGeom prst="roundRect">
            <a:avLst>
              <a:gd name="adj" fmla="val 4000"/>
            </a:avLst>
          </a:prstGeom>
          <a:solidFill>
            <a:srgbClr val="152448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543800" y="4526280"/>
            <a:ext cx="3840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synthetic TESS-like light curve with an injected transit, run end-to-end through our detrending + BLS pipeline — confirming the core detection method before we touch real data.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87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OUTPUTS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&amp; Uncertainty Handling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329416" y="384048"/>
            <a:ext cx="475488" cy="475488"/>
          </a:xfrm>
          <a:prstGeom prst="ellipse">
            <a:avLst/>
          </a:prstGeom>
          <a:ln w="12700">
            <a:solidFill>
              <a:srgbClr val="5B6B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9144" y="493776"/>
            <a:ext cx="201168" cy="20116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6" name="Shape 4"/>
          <p:cNvSpPr/>
          <p:nvPr/>
        </p:nvSpPr>
        <p:spPr>
          <a:xfrm>
            <a:off x="11658600" y="658368"/>
            <a:ext cx="118872" cy="118872"/>
          </a:xfrm>
          <a:prstGeom prst="ellipse">
            <a:avLst/>
          </a:prstGeom>
          <a:solidFill>
            <a:srgbClr val="0B1330"/>
          </a:solidFill>
          <a:ln w="12700">
            <a:solidFill>
              <a:srgbClr val="0B13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500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4672" y="1636776"/>
            <a:ext cx="457200" cy="457200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10" name="Image 0" descr="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1760220"/>
            <a:ext cx="210312" cy="2103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54480" y="150876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significance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983480" y="1508760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BLS SNR / TLS Signal Detection Efficiency (SDE) reported per candidate.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2299716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04672" y="2427732"/>
            <a:ext cx="457200" cy="457200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15" name="Image 1" descr="icons/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" y="2551176"/>
            <a:ext cx="210312" cy="2103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54480" y="2299716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confidence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983480" y="2299716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class-probability is surfaced as the confidence score for each label.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48640" y="3090672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4672" y="3218688"/>
            <a:ext cx="457200" cy="457200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20" name="Image 2" descr="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" y="3342132"/>
            <a:ext cx="210312" cy="2103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54480" y="3090672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Calibrated confidence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983480" y="3090672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 are recalibrated (CalibratedClassifierCV) so a reported 80% confidence means ~80% empirical accuracy.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548640" y="3881628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04672" y="4009644"/>
            <a:ext cx="457200" cy="457200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25" name="Image 3" descr="icons/di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" y="4133088"/>
            <a:ext cx="210312" cy="2103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554480" y="388162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 uncertainty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4983480" y="3881628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resampling gives error bars on period, depth &amp; duration.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548640" y="4672584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04672" y="4800600"/>
            <a:ext cx="457200" cy="457200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30" name="Image 4" descr="icons/flas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" y="4924044"/>
            <a:ext cx="210312" cy="21031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554480" y="4672584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Injection-recovery testing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4983480" y="4672584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transits of known depth/period are injected &amp; re-detected to build a completeness curve vs. SNR.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548640" y="5463540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804672" y="5591556"/>
            <a:ext cx="457200" cy="457200"/>
          </a:xfrm>
          <a:prstGeom prst="ellipse">
            <a:avLst/>
          </a:prstGeom>
          <a:solidFill>
            <a:srgbClr val="F2A93C"/>
          </a:solidFill>
          <a:ln/>
        </p:spPr>
      </p:sp>
      <p:pic>
        <p:nvPicPr>
          <p:cNvPr id="35" name="Image 5" descr="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" y="5715000"/>
            <a:ext cx="210312" cy="21031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554480" y="546354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reliability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4983480" y="5463540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cross-validation results are reported honestly in the final report.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87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OPEN &amp; REPRODUCIBLE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Data Sources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329416" y="384048"/>
            <a:ext cx="475488" cy="475488"/>
          </a:xfrm>
          <a:prstGeom prst="ellipse">
            <a:avLst/>
          </a:prstGeom>
          <a:ln w="12700">
            <a:solidFill>
              <a:srgbClr val="5B6B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9144" y="493776"/>
            <a:ext cx="201168" cy="20116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6" name="Shape 4"/>
          <p:cNvSpPr/>
          <p:nvPr/>
        </p:nvSpPr>
        <p:spPr>
          <a:xfrm>
            <a:off x="11658600" y="658368"/>
            <a:ext cx="118872" cy="118872"/>
          </a:xfrm>
          <a:prstGeom prst="ellipse">
            <a:avLst/>
          </a:prstGeom>
          <a:solidFill>
            <a:srgbClr val="0B1330"/>
          </a:solidFill>
          <a:ln w="12700">
            <a:solidFill>
              <a:srgbClr val="0B13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500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53492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2C3E66"/>
          </a:solidFill>
          <a:ln/>
        </p:spPr>
      </p:sp>
      <p:pic>
        <p:nvPicPr>
          <p:cNvPr id="10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1931213"/>
            <a:ext cx="252374" cy="25237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54480" y="18013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Libraries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868680" y="25146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lightkurve — </a:t>
            </a:r>
            <a:pPr indent="0" marL="0">
              <a:buNone/>
            </a:pPr>
            <a:r>
              <a:rPr lang="en-US" sz="12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download &amp; manipulate TESS/Kepler light curves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68680" y="30815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astropy.timeseries — </a:t>
            </a:r>
            <a:pPr indent="0" marL="0">
              <a:buNone/>
            </a:pPr>
            <a:r>
              <a:rPr lang="en-US" sz="12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Least Squares periodogram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68680" y="364845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transitleastsquares — </a:t>
            </a:r>
            <a:pPr indent="0" marL="0">
              <a:buNone/>
            </a:pPr>
            <a:r>
              <a:rPr lang="en-US" sz="12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refinement &amp; model fitting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68680" y="421538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wotan — </a:t>
            </a:r>
            <a:pPr indent="0" marL="0">
              <a:buNone/>
            </a:pPr>
            <a:r>
              <a:rPr lang="en-US" sz="12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Light-curve detrending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68680" y="478231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/ XGBoost — </a:t>
            </a:r>
            <a:pPr indent="0" marL="0">
              <a:buNone/>
            </a:pPr>
            <a:r>
              <a:rPr lang="en-US" sz="12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68680" y="5349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numpy, matplotlib — </a:t>
            </a:r>
            <a:pPr indent="0" marL="0">
              <a:buNone/>
            </a:pPr>
            <a:r>
              <a:rPr lang="en-US" sz="12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 &amp; visualization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68680" y="5806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7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publicly available Python — no specialized software required.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309360" y="1554480"/>
            <a:ext cx="5330952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629400" y="1783080"/>
            <a:ext cx="548640" cy="548640"/>
          </a:xfrm>
          <a:prstGeom prst="ellipse">
            <a:avLst/>
          </a:prstGeom>
          <a:solidFill>
            <a:srgbClr val="2C3E66"/>
          </a:solidFill>
          <a:ln/>
        </p:spPr>
      </p:sp>
      <p:pic>
        <p:nvPicPr>
          <p:cNvPr id="21" name="Image 1" descr="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533" y="1931213"/>
            <a:ext cx="252374" cy="25237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315200" y="18013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1650" dirty="0"/>
          </a:p>
        </p:txBody>
      </p:sp>
      <p:sp>
        <p:nvSpPr>
          <p:cNvPr id="23" name="Text 19"/>
          <p:cNvSpPr/>
          <p:nvPr/>
        </p:nvSpPr>
        <p:spPr>
          <a:xfrm>
            <a:off x="6629400" y="25146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Organizers' curated dataset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629400" y="28346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confirmed planets, false positives &amp; eclipsing binaries — primary training set.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6629400" y="35661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 / TESS archive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6629400" y="38862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archive.stsci.edu — raw sector light curves (~20-30k stars/sector, high cadence).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6629400" y="46177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Exoplanet Archive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6629400" y="49377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 dispositions used as supplementary labels &amp; sanity checks.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87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&amp; WHEN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Roadmap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329416" y="384048"/>
            <a:ext cx="475488" cy="475488"/>
          </a:xfrm>
          <a:prstGeom prst="ellipse">
            <a:avLst/>
          </a:prstGeom>
          <a:ln w="12700">
            <a:solidFill>
              <a:srgbClr val="5B6B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9144" y="493776"/>
            <a:ext cx="201168" cy="20116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6" name="Shape 4"/>
          <p:cNvSpPr/>
          <p:nvPr/>
        </p:nvSpPr>
        <p:spPr>
          <a:xfrm>
            <a:off x="11658600" y="658368"/>
            <a:ext cx="118872" cy="118872"/>
          </a:xfrm>
          <a:prstGeom prst="ellipse">
            <a:avLst/>
          </a:prstGeom>
          <a:solidFill>
            <a:srgbClr val="0B1330"/>
          </a:solidFill>
          <a:ln w="12700">
            <a:solidFill>
              <a:srgbClr val="0B13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500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53492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2C3E66"/>
          </a:solidFill>
          <a:ln/>
        </p:spPr>
      </p:sp>
      <p:pic>
        <p:nvPicPr>
          <p:cNvPr id="10" name="Image 0" descr="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1931213"/>
            <a:ext cx="252374" cy="25237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54480" y="18013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[Team Name]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868680" y="2615184"/>
            <a:ext cx="109728" cy="10972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2468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Preprocessing</a:t>
            </a:r>
            <a:pPr indent="0" marL="0">
              <a:buNone/>
            </a:pPr>
            <a:r>
              <a:rPr lang="en-US" sz="13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[Member Name]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68680" y="3182112"/>
            <a:ext cx="109728" cy="10972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30358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Detection (BLS/TLS)</a:t>
            </a:r>
            <a:pPr indent="0" marL="0">
              <a:buNone/>
            </a:pPr>
            <a:r>
              <a:rPr lang="en-US" sz="13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[Member Name]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68680" y="3749040"/>
            <a:ext cx="109728" cy="10972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7" name="Text 14"/>
          <p:cNvSpPr/>
          <p:nvPr/>
        </p:nvSpPr>
        <p:spPr>
          <a:xfrm>
            <a:off x="1143000" y="36027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Classification</a:t>
            </a:r>
            <a:pPr indent="0" marL="0">
              <a:buNone/>
            </a:pPr>
            <a:r>
              <a:rPr lang="en-US" sz="13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[Member Name]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68680" y="4315968"/>
            <a:ext cx="109728" cy="10972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9" name="Text 16"/>
          <p:cNvSpPr/>
          <p:nvPr/>
        </p:nvSpPr>
        <p:spPr>
          <a:xfrm>
            <a:off x="1143000" y="416966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&amp; Reporting</a:t>
            </a:r>
            <a:pPr indent="0" marL="0">
              <a:buNone/>
            </a:pPr>
            <a:r>
              <a:rPr lang="en-US" sz="1300" dirty="0">
                <a:solidFill>
                  <a:srgbClr val="7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[Member Name]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309360" y="1554480"/>
            <a:ext cx="5330952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33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629400" y="1783080"/>
            <a:ext cx="548640" cy="548640"/>
          </a:xfrm>
          <a:prstGeom prst="ellipse">
            <a:avLst/>
          </a:prstGeom>
          <a:solidFill>
            <a:srgbClr val="2C3E66"/>
          </a:solidFill>
          <a:ln/>
        </p:spPr>
      </p:sp>
      <p:pic>
        <p:nvPicPr>
          <p:cNvPr id="22" name="Image 1" descr="icons/calend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533" y="1931213"/>
            <a:ext cx="252374" cy="25237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315200" y="18013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1650" dirty="0"/>
          </a:p>
        </p:txBody>
      </p:sp>
      <p:sp>
        <p:nvSpPr>
          <p:cNvPr id="24" name="Shape 20"/>
          <p:cNvSpPr/>
          <p:nvPr/>
        </p:nvSpPr>
        <p:spPr>
          <a:xfrm>
            <a:off x="6629400" y="2551176"/>
            <a:ext cx="146304" cy="146304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25" name="Text 21"/>
          <p:cNvSpPr/>
          <p:nvPr/>
        </p:nvSpPr>
        <p:spPr>
          <a:xfrm>
            <a:off x="6931152" y="24414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7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Jul 2026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8503920" y="24414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/ concept submission (this deck)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629400" y="3419856"/>
            <a:ext cx="146304" cy="146304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28" name="Text 24"/>
          <p:cNvSpPr/>
          <p:nvPr/>
        </p:nvSpPr>
        <p:spPr>
          <a:xfrm>
            <a:off x="6931152" y="33101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Jul 2026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8503920" y="33101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shortlist announced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6629400" y="4288536"/>
            <a:ext cx="146304" cy="146304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31" name="Text 27"/>
          <p:cNvSpPr/>
          <p:nvPr/>
        </p:nvSpPr>
        <p:spPr>
          <a:xfrm>
            <a:off x="6931152" y="41788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Jul 2026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8503920" y="41788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Induction &amp; ISRO mentorship begins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6629400" y="5157216"/>
            <a:ext cx="146304" cy="146304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34" name="Text 30"/>
          <p:cNvSpPr/>
          <p:nvPr/>
        </p:nvSpPr>
        <p:spPr>
          <a:xfrm>
            <a:off x="6931152" y="50474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6-7 Aug 2026</a:t>
            </a:r>
            <a:endParaRPr lang="en-US" sz="1250" dirty="0"/>
          </a:p>
        </p:txBody>
      </p:sp>
      <p:sp>
        <p:nvSpPr>
          <p:cNvPr id="35" name="Text 31"/>
          <p:cNvSpPr/>
          <p:nvPr/>
        </p:nvSpPr>
        <p:spPr>
          <a:xfrm>
            <a:off x="8503920" y="50474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Finale — full pipeline build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41148" cy="4114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54864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840480" y="118872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0" y="457200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955280" y="1005840"/>
            <a:ext cx="25603" cy="25603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0" y="54864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0" y="1097280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576072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2834640" y="6217920"/>
            <a:ext cx="25603" cy="25603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1" name="Shape 9"/>
          <p:cNvSpPr/>
          <p:nvPr/>
        </p:nvSpPr>
        <p:spPr>
          <a:xfrm>
            <a:off x="4937760" y="5852160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949440" y="630936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961120" y="585216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0" y="6217920"/>
            <a:ext cx="41148" cy="4114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47472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612880" y="3200400"/>
            <a:ext cx="25603" cy="2560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618074" y="1274674"/>
            <a:ext cx="1236269" cy="1236269"/>
          </a:xfrm>
          <a:prstGeom prst="ellipse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03366" y="1559966"/>
            <a:ext cx="523037" cy="523037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9" name="Shape 17"/>
          <p:cNvSpPr/>
          <p:nvPr/>
        </p:nvSpPr>
        <p:spPr>
          <a:xfrm>
            <a:off x="6473952" y="1987906"/>
            <a:ext cx="309067" cy="30906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13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324612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0" y="40690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[Team Name]  ·  Bharatiya Antariksh Hackathon 2026  ·  Problem Statement 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AI-Enabled Detection of Exoplanets from Noisy Astronomical Light Curves</dc:title>
  <dc:subject>PptxGenJS Presentation</dc:subject>
  <dc:creator>Team</dc:creator>
  <cp:lastModifiedBy>Team</cp:lastModifiedBy>
  <cp:revision>1</cp:revision>
  <dcterms:created xsi:type="dcterms:W3CDTF">2026-06-27T09:28:59Z</dcterms:created>
  <dcterms:modified xsi:type="dcterms:W3CDTF">2026-06-27T09:28:59Z</dcterms:modified>
</cp:coreProperties>
</file>