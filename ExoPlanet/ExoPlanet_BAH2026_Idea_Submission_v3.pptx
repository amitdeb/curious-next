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Flux</c:v>
                </c:pt>
              </c:strCache>
            </c:strRef>
          </c:tx>
          <c:spPr>
            <a:solidFill>
              <a:srgbClr val="B8740F"/>
            </a:solidFill>
            <a:ln w="28575" cap="flat">
              <a:solidFill>
                <a:srgbClr val="B874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740F"/>
              </a:solidFill>
              <a:ln w="9525" cap="flat">
                <a:solidFill>
                  <a:srgbClr val="B874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100</c:v>
                </c:pt>
                <c:pt idx="1">
                  <c:v>100.1</c:v>
                </c:pt>
                <c:pt idx="2">
                  <c:v>100.19</c:v>
                </c:pt>
                <c:pt idx="3">
                  <c:v>100.27</c:v>
                </c:pt>
                <c:pt idx="4">
                  <c:v>100.34</c:v>
                </c:pt>
                <c:pt idx="5">
                  <c:v>100.38</c:v>
                </c:pt>
                <c:pt idx="6">
                  <c:v>100.4</c:v>
                </c:pt>
                <c:pt idx="7">
                  <c:v>100.39</c:v>
                </c:pt>
                <c:pt idx="8">
                  <c:v>100.36</c:v>
                </c:pt>
                <c:pt idx="9">
                  <c:v>100.31</c:v>
                </c:pt>
                <c:pt idx="10">
                  <c:v>100.24</c:v>
                </c:pt>
                <c:pt idx="11">
                  <c:v>100.15</c:v>
                </c:pt>
                <c:pt idx="12">
                  <c:v>100.06</c:v>
                </c:pt>
                <c:pt idx="13">
                  <c:v>99.96</c:v>
                </c:pt>
                <c:pt idx="14">
                  <c:v>99.86</c:v>
                </c:pt>
                <c:pt idx="15">
                  <c:v>99.77</c:v>
                </c:pt>
                <c:pt idx="16">
                  <c:v>99.7</c:v>
                </c:pt>
                <c:pt idx="17">
                  <c:v>99.64</c:v>
                </c:pt>
                <c:pt idx="18">
                  <c:v>99.61</c:v>
                </c:pt>
                <c:pt idx="19">
                  <c:v>99.6</c:v>
                </c:pt>
                <c:pt idx="20">
                  <c:v>99.62</c:v>
                </c:pt>
                <c:pt idx="21">
                  <c:v>99.66</c:v>
                </c:pt>
                <c:pt idx="22">
                  <c:v>99.72</c:v>
                </c:pt>
                <c:pt idx="23">
                  <c:v>99.8</c:v>
                </c:pt>
                <c:pt idx="24">
                  <c:v>99.89</c:v>
                </c:pt>
                <c:pt idx="25">
                  <c:v>99.99</c:v>
                </c:pt>
                <c:pt idx="26">
                  <c:v>98.11</c:v>
                </c:pt>
                <c:pt idx="27">
                  <c:v>97.86</c:v>
                </c:pt>
                <c:pt idx="28">
                  <c:v>97.59</c:v>
                </c:pt>
                <c:pt idx="29">
                  <c:v>97.3</c:v>
                </c:pt>
                <c:pt idx="30">
                  <c:v>97.35</c:v>
                </c:pt>
                <c:pt idx="31">
                  <c:v>97.72</c:v>
                </c:pt>
                <c:pt idx="32">
                  <c:v>98.07</c:v>
                </c:pt>
                <c:pt idx="33">
                  <c:v>98.39</c:v>
                </c:pt>
                <c:pt idx="34">
                  <c:v>100.32</c:v>
                </c:pt>
                <c:pt idx="35">
                  <c:v>100.25</c:v>
                </c:pt>
                <c:pt idx="36">
                  <c:v>100.16</c:v>
                </c:pt>
                <c:pt idx="37">
                  <c:v>100.07</c:v>
                </c:pt>
                <c:pt idx="38">
                  <c:v>99.97</c:v>
                </c:pt>
                <c:pt idx="39">
                  <c:v>99.87</c:v>
                </c:pt>
                <c:pt idx="40">
                  <c:v>99.78</c:v>
                </c:pt>
                <c:pt idx="41">
                  <c:v>99.71</c:v>
                </c:pt>
                <c:pt idx="42">
                  <c:v>99.65</c:v>
                </c:pt>
                <c:pt idx="43">
                  <c:v>99.61</c:v>
                </c:pt>
                <c:pt idx="44">
                  <c:v>99.6</c:v>
                </c:pt>
                <c:pt idx="45">
                  <c:v>99.61</c:v>
                </c:pt>
                <c:pt idx="46">
                  <c:v>99.65</c:v>
                </c:pt>
                <c:pt idx="47">
                  <c:v>99.71</c:v>
                </c:pt>
                <c:pt idx="48">
                  <c:v>99.79</c:v>
                </c:pt>
                <c:pt idx="49">
                  <c:v>99.88</c:v>
                </c:pt>
                <c:pt idx="50">
                  <c:v>99.97</c:v>
                </c:pt>
                <c:pt idx="51">
                  <c:v>100.07</c:v>
                </c:pt>
                <c:pt idx="52">
                  <c:v>100.17</c:v>
                </c:pt>
                <c:pt idx="53">
                  <c:v>100.25</c:v>
                </c:pt>
                <c:pt idx="54">
                  <c:v>100.32</c:v>
                </c:pt>
                <c:pt idx="55">
                  <c:v>100.37</c:v>
                </c:pt>
                <c:pt idx="56">
                  <c:v>100.4</c:v>
                </c:pt>
                <c:pt idx="57">
                  <c:v>100.4</c:v>
                </c:pt>
                <c:pt idx="58">
                  <c:v>100.37</c:v>
                </c:pt>
                <c:pt idx="59">
                  <c:v>100.33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0058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4572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2801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6576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09728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5486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9144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0" y="45720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53035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60350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585216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64008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60350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64922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0" y="594360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070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57607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175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347472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1031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55680" y="23774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8229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0" y="548640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0" y="1051560"/>
            <a:ext cx="2377440" cy="2377440"/>
          </a:xfrm>
          <a:prstGeom prst="ellipse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1920240"/>
            <a:ext cx="822960" cy="822960"/>
          </a:xfrm>
          <a:prstGeom prst="ellipse">
            <a:avLst/>
          </a:prstGeom>
          <a:solidFill>
            <a:srgbClr val="F2A93C"/>
          </a:solidFill>
          <a:ln/>
          <a:effectLst>
            <a:outerShdw sx="100000" sy="100000" kx="0" ky="0" algn="bl" rotWithShape="0" blurRad="228600" dist="50800" dir="16200000">
              <a:srgbClr val="F2A93C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15400" y="2212848"/>
            <a:ext cx="292608" cy="292608"/>
          </a:xfrm>
          <a:prstGeom prst="ellipse">
            <a:avLst/>
          </a:prstGeom>
          <a:solidFill>
            <a:srgbClr val="152448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1371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PROBLEM STATEMENT 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18288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Detection of Exoplanets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Noisy Astronomical Light Curves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73152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hidden worlds in the noise of TESS starlight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" y="5989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Concept Submission  ·  Team [Team Name]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[Member Names]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943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signals are tiny — brightness dips of only 0.01-1%, buried in noise.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fields cause stellar blending: foreground/background sources contaminate the aperture.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response adds further intrinsic instrumental noise.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Eclipsing binaries, blends and starspots all produce dips that can mimic a real transit.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Disentangling these phenomena reliably, at scale, across 20-30k light curves per TESS sector, is the core difficulty.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7178040" y="1783080"/>
          <a:ext cx="4206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17804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transit dip — barely 1% deep — hiding inside instrument &amp; blend noise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03720" y="4526280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7804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Same-looking dip, four different causes: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178040" y="4983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transit  ·  Eclipsing binary  ·  Blended source  ·  Starspot variability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One Pipeline, Four Outcomes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92024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097999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Classify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68680" y="2651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Robustly flag periodic dips and sort them into transit / eclipsing binary / blend / other.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r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159" y="2097999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Parameters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6629400" y="2651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light curves to recover orbital period, transit duration &amp; transit depth.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3977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29768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" y="4475439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Confidence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68680" y="5029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SNR / significance for every detection and a class-confidence score.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309360" y="3977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29400" y="429768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159" y="4475439"/>
            <a:ext cx="302849" cy="3028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Results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6629400" y="5029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raw and phase-folded light curve with the detected signal overlaid.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6053328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60533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India: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ISRO/IIST/Cambridge's proposed ExoWorlds mission — a JWST-class telescope for exoplanet atmosphere spectroscopy — needs exactly this kind of automated candidate vetting at scale; this pipeline is a direct prototype step toward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20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795" y="2164751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Curves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6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cadence sector data from the MAST archive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41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852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06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6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95" y="2164751"/>
            <a:ext cx="260787" cy="260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26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962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Detrend, normalize flux &amp; clean outliers/gaps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27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138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92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2" name="Image 2" descr="icons/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95" y="2164751"/>
            <a:ext cx="260787" cy="2607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12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Search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248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+ TLS scan for box-shaped dips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013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7424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78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8" name="Image 3" descr="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795" y="2164751"/>
            <a:ext cx="260787" cy="26078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98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534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Odd-even depth, shape, secondary eclipse, SNR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299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710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64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34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795" y="2164751"/>
            <a:ext cx="260787" cy="26078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84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+ Fit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9820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XGBoost classifier and parameter estimation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66928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669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39" name="Text 32"/>
          <p:cNvSpPr/>
          <p:nvPr/>
        </p:nvSpPr>
        <p:spPr>
          <a:xfrm>
            <a:off x="6583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Class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33101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1" name="Text 34"/>
          <p:cNvSpPr/>
          <p:nvPr/>
        </p:nvSpPr>
        <p:spPr>
          <a:xfrm>
            <a:off x="34015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· Duration · Depth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60533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3" name="Text 36"/>
          <p:cNvSpPr/>
          <p:nvPr/>
        </p:nvSpPr>
        <p:spPr>
          <a:xfrm>
            <a:off x="61447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SNR</a:t>
            </a:r>
            <a:endParaRPr lang="en-US" sz="1250" dirty="0"/>
          </a:p>
        </p:txBody>
      </p:sp>
      <p:sp>
        <p:nvSpPr>
          <p:cNvPr id="44" name="Shape 37"/>
          <p:cNvSpPr/>
          <p:nvPr/>
        </p:nvSpPr>
        <p:spPr>
          <a:xfrm>
            <a:off x="87965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5" name="Text 38"/>
          <p:cNvSpPr/>
          <p:nvPr/>
        </p:nvSpPr>
        <p:spPr>
          <a:xfrm>
            <a:off x="88879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Light-Curve Visualization</a:t>
            </a:r>
            <a:endParaRPr lang="en-US" sz="1250" dirty="0"/>
          </a:p>
        </p:txBody>
      </p:sp>
      <p:sp>
        <p:nvSpPr>
          <p:cNvPr id="46" name="Shape 39"/>
          <p:cNvSpPr/>
          <p:nvPr/>
        </p:nvSpPr>
        <p:spPr>
          <a:xfrm>
            <a:off x="566928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868680" y="502920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explainable, not a black box — easier to debug, defend in the report, and extend later. Stage 4 also fuses TIC stellar parameters (radius, Teff) with light-curve features — the same idea behind NASA's newest vetters (ExoMiner++, 2025; ExoNet, 2026) — turning a periodic dip into a physically checkable planet radius and equilibrium temperature.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SIGNAL DETECTION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Search Algorithms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09306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Least Squares (BLS)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8308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astropy.timeseries.BoxLeastSquares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315468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 period/duration grid for box-shaped flux drops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ideal for scanning thousands of light curves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first-pass period, depth, duration &amp; SNR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6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942" y="2093062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 Least Squares (TLS)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54380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Hippke &amp; Heller, 2019 — github.com/hippke/tls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75120" y="315468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realistic, limb-darkened transit model (not just a box)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 more sensitive to small planets than BLS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parameters &amp; suppresses false positives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48640" y="59436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22960" y="5943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BLS runs first for speed across the full dataset, then TLS refines the top candidates for higher-fidelity parameters — the same search-then-vet strategy behind NASA's current SOTA pipeline, ExoMiner++ (2025).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THE CAUSES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Framework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7099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319" y="1862999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Planetary Transit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1248" y="22860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U-shaped dip with equal depth at every epoch; no secondary eclipse.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17099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39" y="1862999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Eclipsing Binary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601968" y="22860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V-shaped dip, odd/even depth difference, often a visible secondary eclipse.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2461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" y="35387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19" y="3691799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520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 / False Positive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41248" y="41148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shifts during the dip; apparent depth changes with aperture size.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32461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5387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039" y="3691799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3520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/ Stellar Variability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601968" y="41148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Non-periodic, or smoothly sinusoidal rather than box-shaped like a transit.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50292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Gradient-Boosted Trees on the organizers' curated labeled set — interpretable, label-efficient, with calibrated confidence scores. Stretch goal: a multimodal vetter in the spirit of NASA's current SOTA (ExoMiner++, 2025; ExoNet, 2026), fusing light-curve shape with TIC stellar parameters (radius, Teff) for a physical planet radius &amp; equilibrium temperature.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VALIDATED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on Simulated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6492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pic>
        <p:nvPicPr>
          <p:cNvPr id="9" name="Image 0" descr="transit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03504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69480" y="1508760"/>
            <a:ext cx="437083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438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Injected vs. Recovered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148840"/>
          <a:ext cx="3840480" cy="1737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269480" y="4343400"/>
            <a:ext cx="4370832" cy="1828800"/>
          </a:xfrm>
          <a:prstGeom prst="roundRect">
            <a:avLst>
              <a:gd name="adj" fmla="val 4000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543800" y="452628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TESS-like light curve with an injected transit, run end-to-end through our detrending + BLS pipeline — confirming the core detection method before we touch real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OUTPUTS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&amp; Uncertainty Handling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636776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60220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5087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significance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50876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SNR / TLS Signal Detection Efficiency (SDE) reported per candidate.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299716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" y="2427732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551176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22997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confidence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83480" y="229971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class-probability is surfaced as the confidence score for each label.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09067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3218688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342132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0906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confidence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983480" y="309067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recalibrated (CalibratedClassifierCV) so a reported 80% confidence means ~80% empirical accuracy.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3881628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009644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d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133088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38816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uncertainty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83480" y="38816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resampling gives error bars on period, depth &amp; duration.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4672584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4672" y="4800600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30" name="Image 4" descr="icons/fl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92404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54480" y="467258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Injection-recovery testing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983480" y="467258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transits of known depth/period are injected &amp; re-detected to build a completeness curve vs. SNR.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546354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04672" y="5591556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35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" y="5715000"/>
            <a:ext cx="210312" cy="2103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554480" y="54635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reliability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4983480" y="546354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are done per star, never per data point, to prevent leakage; stratified k-fold CV results are reported honestly.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OPEN &amp; REPRODUCIBLE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Data Sources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10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9312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68680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lightkurve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download &amp; manipulate TESS/Kepler light curves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3081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astropy.timeseries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Least Squares periodogram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36484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transitleastsquares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refinement &amp; model fitting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2153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wotan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Light-curve detrending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47823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XGBoost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868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visualization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68680" y="5806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publicly available Python — no specialized software required.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1554480"/>
            <a:ext cx="53309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21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1931213"/>
            <a:ext cx="252374" cy="2523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6629400" y="2514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Organizers' curated dataset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29400" y="2834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confirmed planets, false positives &amp; eclipsing binaries — primary training set.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629400" y="3566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/ TESS archive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629400" y="3886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archive.stsci.edu — raw sector light curves (~20-30k stars/sector, high cadence).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29400" y="4617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29400" y="4937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 dispositions used as supplementary labels &amp; sanity checks.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Roadmap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10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9312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[Team Name]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68680" y="2615184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2468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3182112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035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(BLS/TLS)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" y="3749040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36027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4315968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1696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Reporting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09360" y="1554480"/>
            <a:ext cx="53309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22" name="Image 1" descr="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1931213"/>
            <a:ext cx="252374" cy="25237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6629400" y="2551176"/>
            <a:ext cx="146304" cy="146304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5" name="Text 21"/>
          <p:cNvSpPr/>
          <p:nvPr/>
        </p:nvSpPr>
        <p:spPr>
          <a:xfrm>
            <a:off x="6931152" y="2441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2026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503920" y="2441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concept submission (this deck)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29400" y="341985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8" name="Text 24"/>
          <p:cNvSpPr/>
          <p:nvPr/>
        </p:nvSpPr>
        <p:spPr>
          <a:xfrm>
            <a:off x="6931152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 2026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8503920" y="3310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shortlist announced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629400" y="428853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1" name="Text 27"/>
          <p:cNvSpPr/>
          <p:nvPr/>
        </p:nvSpPr>
        <p:spPr>
          <a:xfrm>
            <a:off x="6931152" y="4178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Jul 2026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503920" y="4178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&amp; ISRO mentorship begins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629400" y="515721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4" name="Text 30"/>
          <p:cNvSpPr/>
          <p:nvPr/>
        </p:nvSpPr>
        <p:spPr>
          <a:xfrm>
            <a:off x="6931152" y="5047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Aug 2026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8503920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— full pipeline build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5486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1188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45720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100584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5486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109728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5760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621792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58521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58521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621792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474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12880" y="32004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18074" y="1274674"/>
            <a:ext cx="1236269" cy="1236269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3366" y="1559966"/>
            <a:ext cx="523037" cy="523037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1987906"/>
            <a:ext cx="309067" cy="3090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32461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0" y="40690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[Team Name]  ·  Bharatiya Antariksh Hackathon 2026  ·  Problem Statement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Detection of Exoplanets from Noisy Astronomical Light Curves</dc:title>
  <dc:subject>PptxGenJS Presentation</dc:subject>
  <dc:creator>Team</dc:creator>
  <cp:lastModifiedBy>Team</cp:lastModifiedBy>
  <cp:revision>1</cp:revision>
  <dcterms:created xsi:type="dcterms:W3CDTF">2026-06-27T16:12:13Z</dcterms:created>
  <dcterms:modified xsi:type="dcterms:W3CDTF">2026-06-27T16:12:13Z</dcterms:modified>
</cp:coreProperties>
</file>