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comments/modernComment_10D_0.xml" ContentType="application/vnd.ms-powerpoint.comments+xml"/>
  <Override PartName="/ppt/notesSlides/notesSlide4.xml" ContentType="application/vnd.openxmlformats-officedocument.presentationml.notesSlide+xml"/>
  <Override PartName="/ppt/comments/modernComment_104_0.xml" ContentType="application/vnd.ms-powerpoint.comments+xml"/>
  <Override PartName="/ppt/notesSlides/notesSlide5.xml" ContentType="application/vnd.openxmlformats-officedocument.presentationml.notesSlide+xml"/>
  <Override PartName="/ppt/comments/modernComment_103_0.xml" ContentType="application/vnd.ms-powerpoint.comments+xml"/>
  <Override PartName="/ppt/notesSlides/notesSlide6.xml" ContentType="application/vnd.openxmlformats-officedocument.presentationml.notesSlide+xml"/>
  <Override PartName="/ppt/comments/modernComment_105_0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69" r:id="rId5"/>
    <p:sldId id="260" r:id="rId6"/>
    <p:sldId id="259" r:id="rId7"/>
    <p:sldId id="261" r:id="rId8"/>
    <p:sldId id="262" r:id="rId9"/>
    <p:sldId id="263" r:id="rId10"/>
    <p:sldId id="270" r:id="rId11"/>
    <p:sldId id="271" r:id="rId12"/>
    <p:sldId id="265" r:id="rId13"/>
  </p:sldIdLst>
  <p:sldSz cx="9144000" cy="5143500" type="screen16x9"/>
  <p:notesSz cx="6858000" cy="9144000"/>
  <p:embeddedFontLst>
    <p:embeddedFont>
      <p:font typeface="Google Sans" panose="020B0604020202020204" charset="0"/>
      <p:regular r:id="rId15"/>
      <p:bold r:id="rId16"/>
      <p:italic r:id="rId17"/>
      <p:boldItalic r:id="rId18"/>
    </p:embeddedFont>
    <p:embeddedFont>
      <p:font typeface="Google Sans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C6F9A3-071D-9724-9209-0C8ED1641D40}" name="anwesha deb" initials="ad" userId="5316337ad412959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30BE1E-9F86-4E1B-B647-3B442B4D510D}">
  <a:tblStyle styleId="{CC30BE1E-9F86-4E1B-B647-3B442B4D51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microsoft.com/office/2018/10/relationships/authors" Target="authors.xml"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C7A5A9-8325-40C9-ABE4-A522712FC359}" authorId="{24C6F9A3-071D-9724-9209-0C8ED1641D40}" created="2026-06-30T15:00:23.9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76" creationId="{00000000-0000-0000-0000-000000000000}"/>
      <ac:txMk cp="216" len="27">
        <ac:context len="804" hash="2616881281"/>
      </ac:txMk>
    </ac:txMkLst>
    <p188:pos x="4162864" y="1212588"/>
    <p188:txBody>
      <a:bodyPr/>
      <a:lstStyle/>
      <a:p>
        <a:r>
          <a:rPr lang="en-IN"/>
          <a:t>Elaborate on speed. What does Speed signifies ?</a:t>
        </a:r>
      </a:p>
    </p188:txBody>
  </p188:cm>
  <p188:cm id="{AB7973FB-DC5A-427B-8ECA-3503F605EBC7}" authorId="{24C6F9A3-071D-9724-9209-0C8ED1641D40}" created="2026-06-30T15:01:21.6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76" creationId="{00000000-0000-0000-0000-000000000000}"/>
      <ac:txMk cp="301" len="22">
        <ac:context len="804" hash="2616881281"/>
      </ac:txMk>
    </ac:txMkLst>
    <p188:pos x="1944320" y="1789709"/>
    <p188:txBody>
      <a:bodyPr/>
      <a:lstStyle/>
      <a:p>
        <a:r>
          <a:rPr lang="en-IN"/>
          <a:t>Does this mean same as Stellar fusion parameter checks. Define what is meant by Physical plausibility checks. Make a note on TIC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63346E-E5F0-4802-A670-26327E2F5757}" authorId="{24C6F9A3-071D-9724-9209-0C8ED1641D40}" created="2026-06-30T15:02:56.684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IN"/>
          <a:t>Connect all the 3 questions coherently to tell a single story. Now it is isolated and not connected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C7A5A9-8325-40C9-ABE4-A522712FC359}" authorId="{24C6F9A3-071D-9724-9209-0C8ED1641D40}" created="2026-06-30T15:00:23.97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76" creationId="{00000000-0000-0000-0000-000000000000}"/>
      <ac:txMk cp="216" len="27">
        <ac:context len="804" hash="2616881281"/>
      </ac:txMk>
    </ac:txMkLst>
    <p188:pos x="4162864" y="1212588"/>
    <p188:txBody>
      <a:bodyPr/>
      <a:lstStyle/>
      <a:p>
        <a:r>
          <a:rPr lang="en-IN"/>
          <a:t>Elaborate on speed. What does Speed signifies ?</a:t>
        </a:r>
      </a:p>
    </p188:txBody>
  </p188:cm>
  <p188:cm id="{AB7973FB-DC5A-427B-8ECA-3503F605EBC7}" authorId="{24C6F9A3-071D-9724-9209-0C8ED1641D40}" created="2026-06-30T15:01:21.60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76" creationId="{00000000-0000-0000-0000-000000000000}"/>
      <ac:txMk cp="301" len="22">
        <ac:context len="804" hash="2616881281"/>
      </ac:txMk>
    </ac:txMkLst>
    <p188:pos x="1944320" y="1789709"/>
    <p188:txBody>
      <a:bodyPr/>
      <a:lstStyle/>
      <a:p>
        <a:r>
          <a:rPr lang="en-IN"/>
          <a:t>Does this mean same as Stellar fusion parameter checks. Define what is meant by Physical plausibility checks. Make a note on TIC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0F3F6B-D167-4AD0-B70B-79607C7B7F82}" authorId="{24C6F9A3-071D-9724-9209-0C8ED1641D40}" created="2026-06-30T15:03:42.585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IN"/>
          <a:t>Define below against each box what each boxes does in brief 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99373A-FDC7-4AC6-AD78-6953F553B7A0}" authorId="{24C6F9A3-071D-9724-9209-0C8ED1641D40}" created="2026-06-30T15:05:06.500">
    <pc:sldMkLst xmlns:pc="http://schemas.microsoft.com/office/powerpoint/2013/main/command">
      <pc:docMk/>
      <pc:sldMk cId="0" sldId="261"/>
    </pc:sldMkLst>
    <p188:txBody>
      <a:bodyPr/>
      <a:lstStyle/>
      <a:p>
        <a:r>
          <a:rPr lang="en-IN"/>
          <a:t>Add a chart on final 4 parameter identification of the exoplanet after determining the exoplanet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3535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  [Team Name]</a:t>
            </a:r>
            <a:endParaRPr sz="1600" b="0" i="0" u="none" strike="noStrike" cap="non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  PS-07 - AI-enabled Detection of Exoplanets from Noisy Astronomical Light Curves</a:t>
            </a:r>
            <a:endParaRPr sz="1600" b="0" i="0" u="none" strike="noStrike" cap="non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  [Leader Name]</a:t>
            </a:r>
            <a:endParaRPr sz="1600" b="0" i="0" u="none" strike="noStrike" cap="none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-GB" sz="2050" b="0" i="0" u="none" strike="noStrike" cap="non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 b="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7239000" cy="3589950"/>
        </p:xfrm>
        <a:graphic>
          <a:graphicData uri="http://schemas.openxmlformats.org/drawingml/2006/table">
            <a:tbl>
              <a:tblPr>
                <a:noFill/>
                <a:tableStyleId>{CC30BE1E-9F86-4E1B-B647-3B442B4D510D}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9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Team Leader: 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Name: [Leader Name]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/>
                        <a:t>College: [College]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Name: [Member 1]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College: [College]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Name: [Member 2]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College: [College]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Name: [Member 3]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</a:rPr>
                        <a:t>College: [College]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wswswsw33d3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"/>
              <a:buFont typeface="Arial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Opportunity</a:t>
            </a:r>
            <a:endParaRPr sz="6450" b="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How is this different from other existing ideas?</a:t>
            </a:r>
          </a:p>
          <a:p>
            <a:pPr marL="320040" marR="0" lvl="0" indent="-274638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50" b="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Most pipelines apply a fixed preprocessing recipe to every star and stop at the dip. We do two things differently: an adaptive preprocessing stage tunes parameters per star -- preserving real transit signals while removing noise -- and our stellar-fusion stage then tests every surviving candidate against the host star’s own physics blueprint.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How will it solve the problem?</a:t>
            </a:r>
          </a:p>
          <a:p>
            <a:pPr marL="320040" marR="0" lvl="0" indent="-274638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50" b="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Adaptive detrending removes long-term stellar trends and handles gaps intelligently -- spacecraft downtime is preserved for astrophysical integrity while isolated noise is removed. The stellar-fusion physics test then filters every surviving candidate: could this shadow only come from a planet? Real planets pass. Impostors fail.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USP of the proposed solution</a:t>
            </a:r>
          </a:p>
          <a:p>
            <a:pPr marL="320040" marR="0" lvl="0" indent="-274638" algn="l" rtl="0">
              <a:lnSpc>
                <a:spcPct val="112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50" b="0" i="0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Our USP: an Adaptive Astrophysical Signal Enhancement Pipeline -- per-star preprocessing that maximises transit signal integrity, combined with physics-verified candidate confirmation and Mandel-Agol parameter refinement. Every planet we flag is verified by the universe’s own rules, built for ISRO’s ExoWorlds mission.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bg" title="b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Title"/>
          <p:cNvSpPr txBox="1"/>
          <p:nvPr/>
        </p:nvSpPr>
        <p:spPr>
          <a:xfrm>
            <a:off x="311700" y="786983"/>
            <a:ext cx="75693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algn="l"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</a:rPr>
              <a:t>Step 2 Deep Dive: Adaptive Preprocessing Pipeline</a:t>
            </a:r>
          </a:p>
        </p:txBody>
      </p:sp>
      <p:pic>
        <p:nvPicPr>
          <p:cNvPr id="133" name="Flow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912" y="716290"/>
            <a:ext cx="3230380" cy="4278650"/>
          </a:xfrm>
          <a:prstGeom prst="rect">
            <a:avLst/>
          </a:prstGeom>
        </p:spPr>
      </p:pic>
      <p:sp>
        <p:nvSpPr>
          <p:cNvPr id="300" name="Footnote1"/>
          <p:cNvSpPr txBox="1"/>
          <p:nvPr/>
        </p:nvSpPr>
        <p:spPr>
          <a:xfrm>
            <a:off x="311700" y="4356517"/>
            <a:ext cx="8622456" cy="6934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1050" b="0" u="none" strike="noStrike" cap="none" dirty="0">
                <a:solidFill>
                  <a:srgbClr val="888888"/>
                </a:solidFill>
                <a:latin typeface="Google Sans"/>
              </a:rPr>
              <a:t>[1] </a:t>
            </a:r>
            <a:r>
              <a:rPr lang="en-GB" sz="1050" b="0" u="none" strike="noStrike" cap="none" dirty="0" err="1">
                <a:solidFill>
                  <a:srgbClr val="888888"/>
                </a:solidFill>
                <a:latin typeface="Google Sans"/>
              </a:rPr>
              <a:t>Hippke</a:t>
            </a:r>
            <a:r>
              <a:rPr lang="en-GB" sz="1050" b="0" u="none" strike="noStrike" cap="none" dirty="0">
                <a:solidFill>
                  <a:srgbClr val="888888"/>
                </a:solidFill>
                <a:latin typeface="Google Sans"/>
              </a:rPr>
              <a:t> et al. 2019 -- Wotan: Comprehensive Time-series Detrending in Python. AJ 158, 143.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wswswsw33d3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Detection Pipeline</a:t>
            </a:r>
            <a:endParaRPr sz="1600" b="0" i="0" u="none" strike="noStrike" cap="none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50" b="0" i="1" u="none" strike="noStrike" cap="none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End-to-end pipeline, from raw TESS light curves to a vetted, parameter-refined candidate.</a:t>
            </a:r>
          </a:p>
        </p:txBody>
      </p:sp>
      <p:pic>
        <p:nvPicPr>
          <p:cNvPr id="83" name="Picture 82" descr="process_flow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1691640"/>
            <a:ext cx="7562088" cy="2286000"/>
          </a:xfrm>
          <a:prstGeom prst="rect">
            <a:avLst/>
          </a:prstGeom>
        </p:spPr>
      </p:pic>
      <p:sp>
        <p:nvSpPr>
          <p:cNvPr id="301" name="Footnote2"/>
          <p:cNvSpPr txBox="1"/>
          <p:nvPr/>
        </p:nvSpPr>
        <p:spPr>
          <a:xfrm>
            <a:off x="385846" y="4377128"/>
            <a:ext cx="8521422" cy="6578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1050" b="0" u="none" strike="noStrike" cap="none" dirty="0">
                <a:solidFill>
                  <a:srgbClr val="888888"/>
                </a:solidFill>
                <a:latin typeface="Google Sans"/>
              </a:rPr>
              <a:t>[2] </a:t>
            </a:r>
            <a:r>
              <a:rPr lang="en-GB" sz="1050" b="0" u="none" strike="noStrike" cap="none" dirty="0" err="1">
                <a:solidFill>
                  <a:srgbClr val="888888"/>
                </a:solidFill>
                <a:latin typeface="Google Sans"/>
              </a:rPr>
              <a:t>Hippke</a:t>
            </a:r>
            <a:r>
              <a:rPr lang="en-GB" sz="1050" b="0" u="none" strike="noStrike" cap="none" dirty="0">
                <a:solidFill>
                  <a:srgbClr val="888888"/>
                </a:solidFill>
                <a:latin typeface="Google Sans"/>
              </a:rPr>
              <a:t> &amp; Heller 2019 -- Optimized transit detection algorithm: TLS template matching. A&amp;A 623, A39.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wswswsw33d3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Title"/>
          <p:cNvSpPr txBox="1"/>
          <p:nvPr/>
        </p:nvSpPr>
        <p:spPr>
          <a:xfrm>
            <a:off x="255850" y="577121"/>
            <a:ext cx="8576468" cy="73264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algn="l"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</a:rPr>
              <a:t>Why This Pipeline Finds Exoplanets Others Miss</a:t>
            </a:r>
          </a:p>
        </p:txBody>
      </p:sp>
      <p:sp>
        <p:nvSpPr>
          <p:cNvPr id="77" name="ColLeft"/>
          <p:cNvSpPr txBox="1"/>
          <p:nvPr/>
        </p:nvSpPr>
        <p:spPr>
          <a:xfrm>
            <a:off x="255850" y="1189842"/>
            <a:ext cx="4160309" cy="3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0040" marR="0" lvl="0" indent="-274638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Two-stage cascade: light-curve triage finds the shadow; the stellar-fusion stage cross-checks it against the host star's own physics. Every stage returns a calibrated probability -- evidence, never a guess.</a:t>
            </a:r>
          </a:p>
          <a:p>
            <a:pPr marL="320040" marR="0" lvl="0" indent="-274638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Dual period search: BLS sweeps thousands of periods in seconds; TLS then hunts faint signatures using realistic stellar limb-darkening U-shape templates -- catching sub-stellar dips that BLS's rigid square-box approximation misses.</a:t>
            </a:r>
          </a:p>
          <a:p>
            <a:pPr marL="320040" marR="0" lvl="0" indent="-274638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Physical plausibility checks via TESS Input </a:t>
            </a:r>
            <a:r>
              <a:rPr lang="en-GB" sz="1200" b="0" i="0" u="none" strike="noStrike" cap="none" dirty="0" err="1">
                <a:solidFill>
                  <a:schemeClr val="dk2"/>
                </a:solidFill>
                <a:latin typeface="Google Sans"/>
              </a:rPr>
              <a:t>Catalog</a:t>
            </a: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 (TIC): planet radius, transit duration and stellar density must agree with the star's own properties -- impostors fail here.</a:t>
            </a:r>
          </a:p>
        </p:txBody>
      </p:sp>
      <p:sp>
        <p:nvSpPr>
          <p:cNvPr id="78" name="ColRight"/>
          <p:cNvSpPr txBox="1"/>
          <p:nvPr/>
        </p:nvSpPr>
        <p:spPr>
          <a:xfrm>
            <a:off x="4672009" y="1189842"/>
            <a:ext cx="4160309" cy="3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0040" marR="0" lvl="0" indent="-274638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Independent centroid and difference-imaging check traces the dimming to its source star -- ruling out blended impostors hiding in the same patch of sky.</a:t>
            </a:r>
          </a:p>
          <a:p>
            <a:pPr marL="320040" marR="0" lvl="0" indent="-274638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Mandel-</a:t>
            </a:r>
            <a:r>
              <a:rPr lang="en-GB" sz="1200" b="0" i="0" u="none" strike="noStrike" cap="none" dirty="0" err="1">
                <a:solidFill>
                  <a:schemeClr val="dk2"/>
                </a:solidFill>
                <a:latin typeface="Google Sans"/>
              </a:rPr>
              <a:t>Agol</a:t>
            </a: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 transit model fit (batman library): once a candidate clears classification, the pipeline phase-folds its light curve and fits a physics model to extract science-grade period, planet radius (Rp in Earth radii), transit duration and semi-major axis -- uncertainty bounds included.</a:t>
            </a:r>
          </a:p>
          <a:p>
            <a:pPr marL="320040" marR="0" lvl="0" indent="-274638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200" b="0" i="0" u="none" strike="noStrike" cap="none" dirty="0">
                <a:solidFill>
                  <a:schemeClr val="dk2"/>
                </a:solidFill>
                <a:latin typeface="Google Sans"/>
              </a:rPr>
              <a:t>Calibrated confidence reporting: class probability, SNR/SDE, injection-recovery completeness curve, raw and phase-folded light-curve plots -- every verdict, fully proven.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wswswsw33d3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07289" y="68091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 (optional)</a:t>
            </a:r>
            <a:endParaRPr sz="16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GB" sz="1250" b="0" i="1" u="none" strike="noStrike" cap="none" dirty="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Proof of concept: a synthetic transit recovered end-to-end through our detrending + BLS pipeline.</a:t>
            </a:r>
          </a:p>
        </p:txBody>
      </p:sp>
      <p:pic>
        <p:nvPicPr>
          <p:cNvPr id="89" name="Picture 88" descr="transit_de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343" y="1787970"/>
            <a:ext cx="4598125" cy="292608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09485" y="590374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sz="1600" b="0" i="0" u="none" strike="noStrike" cap="none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95" name="Picture 94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369" y="973874"/>
            <a:ext cx="6637972" cy="3692626"/>
          </a:xfrm>
          <a:prstGeom prst="rect">
            <a:avLst/>
          </a:prstGeom>
        </p:spPr>
      </p:pic>
      <p:sp>
        <p:nvSpPr>
          <p:cNvPr id="302" name="Footnote3"/>
          <p:cNvSpPr txBox="1"/>
          <p:nvPr/>
        </p:nvSpPr>
        <p:spPr>
          <a:xfrm>
            <a:off x="309485" y="4666499"/>
            <a:ext cx="8525029" cy="3835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1050" b="0" u="none" strike="noStrike" cap="none" dirty="0">
                <a:solidFill>
                  <a:srgbClr val="888888"/>
                </a:solidFill>
                <a:latin typeface="Google Sans"/>
              </a:rPr>
              <a:t>[3] Seager &amp; Mallen-Ornelas 2003 -- Planet and Star Parameters from an Extrasolar Planet Transit. </a:t>
            </a:r>
            <a:r>
              <a:rPr lang="en-GB" sz="1050" b="0" u="none" strike="noStrike" cap="none" dirty="0" err="1">
                <a:solidFill>
                  <a:srgbClr val="888888"/>
                </a:solidFill>
                <a:latin typeface="Google Sans"/>
              </a:rPr>
              <a:t>ApJ</a:t>
            </a:r>
            <a:r>
              <a:rPr lang="en-GB" sz="1050" b="0" u="none" strike="noStrike" cap="none" dirty="0">
                <a:solidFill>
                  <a:srgbClr val="888888"/>
                </a:solidFill>
                <a:latin typeface="Google Sans"/>
              </a:rPr>
              <a:t> 585, 1038.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bg" title="wswsws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Content"/>
          <p:cNvSpPr txBox="1"/>
          <p:nvPr/>
        </p:nvSpPr>
        <p:spPr>
          <a:xfrm>
            <a:off x="311691" y="944222"/>
            <a:ext cx="8520618" cy="4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 dirty="0">
                <a:solidFill>
                  <a:schemeClr val="dk1"/>
                </a:solidFill>
                <a:latin typeface="Google Sans Medium"/>
              </a:rPr>
              <a:t>Training &amp; Model Selection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GB" sz="1300" b="0" i="0" u="none" strike="noStrike" cap="none" dirty="0">
                <a:solidFill>
                  <a:schemeClr val="dk1"/>
                </a:solidFill>
                <a:latin typeface="Google Sans Medium"/>
              </a:rPr>
              <a:t>Step 1: Train 3 Candidate Models Per Stage</a:t>
            </a:r>
          </a:p>
          <a:p>
            <a:pPr marL="320040" marR="0" lvl="0" indent="-274638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i="0" u="none" strike="noStrike" cap="none" dirty="0">
                <a:solidFill>
                  <a:schemeClr val="dk2"/>
                </a:solidFill>
                <a:latin typeface="Google Sans"/>
              </a:rPr>
              <a:t>For each stage we independently train </a:t>
            </a:r>
            <a:r>
              <a:rPr lang="en-GB" sz="1100" b="1" i="0" u="none" strike="noStrike" cap="none" dirty="0">
                <a:solidFill>
                  <a:schemeClr val="dk2"/>
                </a:solidFill>
                <a:latin typeface="Google Sans Medium"/>
              </a:rPr>
              <a:t>Random Forest, </a:t>
            </a:r>
            <a:r>
              <a:rPr lang="en-GB" sz="1100" b="1" i="0" u="none" strike="noStrike" cap="none" dirty="0" err="1">
                <a:solidFill>
                  <a:schemeClr val="dk2"/>
                </a:solidFill>
                <a:latin typeface="Google Sans Medium"/>
              </a:rPr>
              <a:t>XGBoost</a:t>
            </a:r>
            <a:r>
              <a:rPr lang="en-GB" sz="1100" b="1" i="0" u="none" strike="noStrike" cap="none" dirty="0">
                <a:solidFill>
                  <a:schemeClr val="dk2"/>
                </a:solidFill>
                <a:latin typeface="Google Sans Medium"/>
              </a:rPr>
              <a:t>, and </a:t>
            </a:r>
            <a:r>
              <a:rPr lang="en-GB" sz="1100" b="1" i="0" u="none" strike="noStrike" cap="none" dirty="0" err="1">
                <a:solidFill>
                  <a:schemeClr val="dk2"/>
                </a:solidFill>
                <a:latin typeface="Google Sans Medium"/>
              </a:rPr>
              <a:t>CatBoost</a:t>
            </a:r>
            <a:r>
              <a:rPr lang="en-GB" sz="1100" b="0" i="0" u="none" strike="noStrike" cap="none" dirty="0">
                <a:solidFill>
                  <a:schemeClr val="dk2"/>
                </a:solidFill>
                <a:latin typeface="Google Sans"/>
              </a:rPr>
              <a:t> on the labelled candidate set -- Model 1 uses BLS/TLS light-curve features; Model 2 adds TIC stellar parameters for physical vetting.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GB" sz="1300" b="0" i="0" u="none" strike="noStrike" cap="none" dirty="0">
                <a:solidFill>
                  <a:schemeClr val="dk1"/>
                </a:solidFill>
                <a:latin typeface="Google Sans Medium"/>
              </a:rPr>
              <a:t>Step 2: Evaluate Each with Star-Grouped 5-Fold CV</a:t>
            </a:r>
          </a:p>
          <a:p>
            <a:pPr marL="320040" marR="0" lvl="0" indent="-274638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i="0" u="none" strike="noStrike" cap="none" dirty="0">
                <a:solidFill>
                  <a:schemeClr val="dk2"/>
                </a:solidFill>
                <a:latin typeface="Google Sans"/>
              </a:rPr>
              <a:t>Stars are grouped by TIC ID so no star appears in both train and test -- preventing data leakage. Each fold yields a confusion matrix; we record cross-validated precision, recall and F2 score for all three models.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350"/>
              </a:spcBef>
              <a:spcAft>
                <a:spcPts val="0"/>
              </a:spcAft>
              <a:buNone/>
            </a:pPr>
            <a:r>
              <a:rPr lang="en-GB" sz="1300" b="0" i="0" u="none" strike="noStrike" cap="none" dirty="0">
                <a:solidFill>
                  <a:schemeClr val="dk1"/>
                </a:solidFill>
                <a:latin typeface="Google Sans Medium"/>
              </a:rPr>
              <a:t>Step 3: Pick the Best -- Optimising for F2 (beta=2)</a:t>
            </a:r>
          </a:p>
          <a:p>
            <a:pPr marL="320040" marR="0" lvl="0" indent="-274638" algn="l" rtl="0">
              <a:lnSpc>
                <a:spcPct val="112000"/>
              </a:lnSpc>
              <a:spcBef>
                <a:spcPts val="15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i="0" u="none" strike="noStrike" cap="none" dirty="0">
                <a:solidFill>
                  <a:schemeClr val="dk2"/>
                </a:solidFill>
                <a:latin typeface="Google Sans"/>
              </a:rPr>
              <a:t>A false negative at Stage 1 drops a real planet before Stage 2 ever sees it -- unrecoverable. A false positive just costs one extra review. We therefore score all three models by F2 and the highest scorer per stage enters the final cascade.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b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Title"/>
          <p:cNvSpPr txBox="1"/>
          <p:nvPr/>
        </p:nvSpPr>
        <p:spPr>
          <a:xfrm>
            <a:off x="311701" y="687658"/>
            <a:ext cx="8520618" cy="42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algn="l">
              <a:buNone/>
            </a:pPr>
            <a:r>
              <a:rPr lang="en-GB" sz="1600" b="0" u="none" strike="noStrike" cap="none" dirty="0">
                <a:solidFill>
                  <a:schemeClr val="dk1"/>
                </a:solidFill>
                <a:latin typeface="Google Sans Medium"/>
              </a:rPr>
              <a:t>Tech Stack</a:t>
            </a:r>
          </a:p>
        </p:txBody>
      </p:sp>
      <p:sp>
        <p:nvSpPr>
          <p:cNvPr id="203" name="Left"/>
          <p:cNvSpPr txBox="1"/>
          <p:nvPr/>
        </p:nvSpPr>
        <p:spPr>
          <a:xfrm>
            <a:off x="311683" y="1259669"/>
            <a:ext cx="4160309" cy="3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Data &amp; Compute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lightkurve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+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astropy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-- TESS PDCSAP flux from NASA MAST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Google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Colab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(free tier) -- sufficient for full dataset</a:t>
            </a:r>
          </a:p>
          <a:p>
            <a:pPr marL="0" indent="0" algn="l">
              <a:lnSpc>
                <a:spcPct val="112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Signal Processing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wotan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--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biweight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sliding-window stellar detrending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PyWavelets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-- wavelet denoising;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scipy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MAD -- outlier rejection</a:t>
            </a:r>
          </a:p>
          <a:p>
            <a:pPr marL="0" indent="0" algn="l">
              <a:lnSpc>
                <a:spcPct val="112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Period Search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astropy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-bls -- BLS fast candidate sieve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transitleastsquares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-- TLS U-shape template matching</a:t>
            </a:r>
          </a:p>
        </p:txBody>
      </p:sp>
      <p:sp>
        <p:nvSpPr>
          <p:cNvPr id="204" name="Right"/>
          <p:cNvSpPr txBox="1"/>
          <p:nvPr/>
        </p:nvSpPr>
        <p:spPr>
          <a:xfrm>
            <a:off x="4672010" y="1259669"/>
            <a:ext cx="4160309" cy="3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ML / Classification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scikit-learn (Random Forest),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XGBoost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,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CatBoost</a:t>
            </a:r>
            <a:endParaRPr lang="en-GB" sz="1100" b="0" u="none" strike="noStrike" cap="none" dirty="0">
              <a:solidFill>
                <a:schemeClr val="dk2"/>
              </a:solidFill>
              <a:latin typeface="Google Sans"/>
            </a:endParaRP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SHAP -- feature importance and model interpretability</a:t>
            </a:r>
          </a:p>
          <a:p>
            <a:pPr marL="0" indent="0" algn="l">
              <a:lnSpc>
                <a:spcPct val="112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Parameter Estimation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batman -- Mandel-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Agol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transit model fitting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scipy.optimize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-- least-squares fit for Rp, P, T14,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a/Rs</a:t>
            </a:r>
            <a:endParaRPr lang="en-GB" sz="1100" b="0" u="none" strike="noStrike" cap="none" dirty="0">
              <a:solidFill>
                <a:schemeClr val="dk2"/>
              </a:solidFill>
              <a:latin typeface="Google Sans"/>
            </a:endParaRPr>
          </a:p>
          <a:p>
            <a:pPr marL="0" indent="0" algn="l">
              <a:lnSpc>
                <a:spcPct val="112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Datasets</a:t>
            </a:r>
          </a:p>
          <a:p>
            <a:pPr marL="228600" indent="-228600" algn="l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NASA TESS TOI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Catalog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+ TESS Input </a:t>
            </a:r>
            <a:r>
              <a:rPr lang="en-GB" sz="1100" b="0" u="none" strike="noStrike" cap="none" dirty="0" err="1">
                <a:solidFill>
                  <a:schemeClr val="dk2"/>
                </a:solidFill>
                <a:latin typeface="Google Sans"/>
              </a:rPr>
              <a:t>Catalog</a:t>
            </a:r>
            <a:r>
              <a:rPr lang="en-GB" sz="1100" b="0" u="none" strike="noStrike" cap="none" dirty="0">
                <a:solidFill>
                  <a:schemeClr val="dk2"/>
                </a:solidFill>
                <a:latin typeface="Google Sans"/>
              </a:rPr>
              <a:t> (TIC) -- labelled candidates and stellar parameters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b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Title"/>
          <p:cNvSpPr txBox="1"/>
          <p:nvPr/>
        </p:nvSpPr>
        <p:spPr>
          <a:xfrm>
            <a:off x="311691" y="630000"/>
            <a:ext cx="8520618" cy="42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20" rIns="91425" bIns="45720" anchor="ctr">
            <a:noAutofit/>
          </a:bodyPr>
          <a:lstStyle/>
          <a:p>
            <a:pPr algn="l">
              <a:buNone/>
            </a:pPr>
            <a:r>
              <a:rPr lang="en-GB" sz="1600" b="0" u="none" strike="noStrike" cap="none" dirty="0">
                <a:solidFill>
                  <a:schemeClr val="dk1"/>
                </a:solidFill>
                <a:latin typeface="Google Sans Medium"/>
              </a:rPr>
              <a:t>References</a:t>
            </a:r>
          </a:p>
        </p:txBody>
      </p:sp>
      <p:sp>
        <p:nvSpPr>
          <p:cNvPr id="213" name="Ref1"/>
          <p:cNvSpPr txBox="1"/>
          <p:nvPr/>
        </p:nvSpPr>
        <p:spPr>
          <a:xfrm>
            <a:off x="311691" y="1200000"/>
            <a:ext cx="8520618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[1] Adaptive Detrending</a:t>
            </a:r>
          </a:p>
          <a:p>
            <a:pPr marL="228600" indent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GB" sz="1050" b="0" u="none" strike="noStrike" cap="none" dirty="0" err="1">
                <a:solidFill>
                  <a:schemeClr val="dk2"/>
                </a:solidFill>
                <a:latin typeface="Google Sans"/>
              </a:rPr>
              <a:t>Hippke</a:t>
            </a:r>
            <a:r>
              <a:rPr lang="en-GB" sz="1050" b="0" u="none" strike="noStrike" cap="none" dirty="0">
                <a:solidFill>
                  <a:schemeClr val="dk2"/>
                </a:solidFill>
                <a:latin typeface="Google Sans"/>
              </a:rPr>
              <a:t>, M. et al. (2019). Wotan: Comprehensive Time-series Detrending in Python. The Astronomical Journal, 158, 143.</a:t>
            </a:r>
          </a:p>
          <a:p>
            <a:pPr marL="228600" indent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GB" sz="1050" b="0" i="1" u="none" strike="noStrike" cap="none" dirty="0" err="1">
                <a:solidFill>
                  <a:srgbClr val="555555"/>
                </a:solidFill>
                <a:latin typeface="Google Sans"/>
              </a:rPr>
              <a:t>Biweight</a:t>
            </a:r>
            <a:r>
              <a:rPr lang="en-GB" sz="1050" b="0" i="1" u="none" strike="noStrike" cap="none" dirty="0">
                <a:solidFill>
                  <a:srgbClr val="555555"/>
                </a:solidFill>
                <a:latin typeface="Google Sans"/>
              </a:rPr>
              <a:t> sliding-window detrending recovers 99% of shallow Kepler transits -- best performance of all tested methods.</a:t>
            </a:r>
          </a:p>
        </p:txBody>
      </p:sp>
      <p:sp>
        <p:nvSpPr>
          <p:cNvPr id="214" name="Ref2"/>
          <p:cNvSpPr txBox="1"/>
          <p:nvPr/>
        </p:nvSpPr>
        <p:spPr>
          <a:xfrm>
            <a:off x="311700" y="2250000"/>
            <a:ext cx="8520618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[2] Transit Period Search (TLS vs BLS)</a:t>
            </a:r>
          </a:p>
          <a:p>
            <a:pPr marL="228600" indent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GB" sz="1050" b="0" u="none" strike="noStrike" cap="none" dirty="0" err="1">
                <a:solidFill>
                  <a:schemeClr val="dk2"/>
                </a:solidFill>
                <a:latin typeface="Google Sans"/>
              </a:rPr>
              <a:t>Hippke</a:t>
            </a:r>
            <a:r>
              <a:rPr lang="en-GB" sz="1050" b="0" u="none" strike="noStrike" cap="none" dirty="0">
                <a:solidFill>
                  <a:schemeClr val="dk2"/>
                </a:solidFill>
                <a:latin typeface="Google Sans"/>
              </a:rPr>
              <a:t>, M. &amp; Heller, R. (2019). Optimized transit detection algorithm: Template matching for periodic transits of small planets. A&amp;A, 623, A39.</a:t>
            </a:r>
          </a:p>
          <a:p>
            <a:pPr marL="228600" indent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GB" sz="1050" b="0" i="1" u="none" strike="noStrike" cap="none" dirty="0">
                <a:solidFill>
                  <a:srgbClr val="555555"/>
                </a:solidFill>
                <a:latin typeface="Google Sans"/>
              </a:rPr>
              <a:t>TLS achieves 17% better detection efficiency for small planets over BLS; recovers known planets at higher significance for &gt;99.9% of cases.</a:t>
            </a:r>
          </a:p>
        </p:txBody>
      </p:sp>
      <p:sp>
        <p:nvSpPr>
          <p:cNvPr id="215" name="Ref3"/>
          <p:cNvSpPr txBox="1"/>
          <p:nvPr/>
        </p:nvSpPr>
        <p:spPr>
          <a:xfrm>
            <a:off x="311691" y="3413500"/>
            <a:ext cx="8520618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u="none" strike="noStrike" cap="none" dirty="0">
                <a:solidFill>
                  <a:schemeClr val="dk1"/>
                </a:solidFill>
                <a:latin typeface="Google Sans Medium"/>
              </a:rPr>
              <a:t>[3] Stellar Parameter Vetting (Model 2 Physical Check)</a:t>
            </a:r>
          </a:p>
          <a:p>
            <a:pPr marL="228600" indent="0" algn="l">
              <a:lnSpc>
                <a:spcPct val="115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GB" sz="1050" b="0" u="none" strike="noStrike" cap="none" dirty="0">
                <a:solidFill>
                  <a:schemeClr val="dk2"/>
                </a:solidFill>
                <a:latin typeface="Google Sans"/>
              </a:rPr>
              <a:t>Seager, S. &amp; Mallen-Ornelas, G. (2003). A Unique Solution of Planet and Star Parameters from an Extrasolar Planet Transit Light Curve. </a:t>
            </a:r>
            <a:r>
              <a:rPr lang="en-GB" sz="1050" b="0" u="none" strike="noStrike" cap="none" dirty="0" err="1">
                <a:solidFill>
                  <a:schemeClr val="dk2"/>
                </a:solidFill>
                <a:latin typeface="Google Sans"/>
              </a:rPr>
              <a:t>ApJ</a:t>
            </a:r>
            <a:r>
              <a:rPr lang="en-GB" sz="1050" b="0" u="none" strike="noStrike" cap="none" dirty="0">
                <a:solidFill>
                  <a:schemeClr val="dk2"/>
                </a:solidFill>
                <a:latin typeface="Google Sans"/>
              </a:rPr>
              <a:t>, 585, 1038.</a:t>
            </a:r>
          </a:p>
          <a:p>
            <a:pPr marL="228600" indent="0" algn="l">
              <a:lnSpc>
                <a:spcPct val="115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GB" sz="1050" b="0" i="1" u="none" strike="noStrike" cap="none" dirty="0">
                <a:solidFill>
                  <a:srgbClr val="555555"/>
                </a:solidFill>
                <a:latin typeface="Google Sans"/>
              </a:rPr>
              <a:t>Transit photometry uniquely constrains mean stellar density; inconsistency with TIC </a:t>
            </a:r>
            <a:r>
              <a:rPr lang="en-GB" sz="1050" b="0" i="1" u="none" strike="noStrike" cap="none" dirty="0" err="1">
                <a:solidFill>
                  <a:srgbClr val="555555"/>
                </a:solidFill>
                <a:latin typeface="Google Sans"/>
              </a:rPr>
              <a:t>catalog</a:t>
            </a:r>
            <a:r>
              <a:rPr lang="en-GB" sz="1050" b="0" i="1" u="none" strike="noStrike" cap="none" dirty="0">
                <a:solidFill>
                  <a:srgbClr val="555555"/>
                </a:solidFill>
                <a:latin typeface="Google Sans"/>
              </a:rPr>
              <a:t> values is a definitive false-positive discriminator.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wswswswdwdww33d3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1060</Words>
  <Application>Microsoft Office PowerPoint</Application>
  <PresentationFormat>On-screen Show (16:9)</PresentationFormat>
  <Paragraphs>78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Google Sans Medium</vt:lpstr>
      <vt:lpstr>Google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anwesha deb</cp:lastModifiedBy>
  <cp:revision>2</cp:revision>
  <dcterms:modified xsi:type="dcterms:W3CDTF">2026-07-01T14:59:13Z</dcterms:modified>
</cp:coreProperties>
</file>